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5b53d6cc7aa4b6d" /><Relationship Type="http://schemas.openxmlformats.org/officeDocument/2006/relationships/extended-properties" Target="/docProps/app.xml" Id="R9d38744fa4684aa3" /><Relationship Type="http://schemas.openxmlformats.org/officeDocument/2006/relationships/officeDocument" Target="/ppt/presentation.xml" Id="R495d95972cb3480c" /></Relationships>
</file>

<file path=ppt/presentation.xml><?xml version="1.0" encoding="utf-8"?>
<p:presentation xmlns:p="http://schemas.openxmlformats.org/presentationml/2006/main">
  <p:sldMasterIdLst>
    <p:sldMasterId xmlns:r="http://schemas.openxmlformats.org/officeDocument/2006/relationships" id="2147483648" r:id="R8b42dd44e88749cd"/>
  </p:sldMasterIdLst>
  <p:notesMasterIdLst>
    <p:notesMasterId xmlns:r="http://schemas.openxmlformats.org/officeDocument/2006/relationships" r:id="Rd094b7d18baa4e22"/>
  </p:notesMasterIdLst>
  <p:sldIdLst>
    <p:sldId xmlns:r="http://schemas.openxmlformats.org/officeDocument/2006/relationships" id="256" r:id="R67c6e464061d4dfc"/>
    <p:sldId xmlns:r="http://schemas.openxmlformats.org/officeDocument/2006/relationships" id="257" r:id="R20ada965b5124f9e"/>
    <p:sldId xmlns:r="http://schemas.openxmlformats.org/officeDocument/2006/relationships" id="258" r:id="R0ceebbc322824dac"/>
    <p:sldId xmlns:r="http://schemas.openxmlformats.org/officeDocument/2006/relationships" id="259" r:id="Rf95ab50b0f174aa3"/>
    <p:sldId xmlns:r="http://schemas.openxmlformats.org/officeDocument/2006/relationships" id="260" r:id="Rbd59e874e8b94744"/>
    <p:sldId xmlns:r="http://schemas.openxmlformats.org/officeDocument/2006/relationships" id="261" r:id="R068eee19982d4622"/>
    <p:sldId xmlns:r="http://schemas.openxmlformats.org/officeDocument/2006/relationships" id="262" r:id="R60c2ef585ce14a2f"/>
    <p:sldId xmlns:r="http://schemas.openxmlformats.org/officeDocument/2006/relationships" id="263" r:id="R334ee3b5c6a240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b5de8545aa4c19" /><Relationship Type="http://schemas.openxmlformats.org/officeDocument/2006/relationships/slideMaster" Target="/ppt/slideMasters/slideMaster1.xml" Id="R8b42dd44e88749cd" /><Relationship Type="http://schemas.openxmlformats.org/officeDocument/2006/relationships/notesMaster" Target="/ppt/notesMasters/notesMaster1.xml" Id="Rd094b7d18baa4e22" /><Relationship Type="http://schemas.openxmlformats.org/officeDocument/2006/relationships/presProps" Target="/ppt/presProps.xml" Id="Ra20727df5cf648bb" /><Relationship Type="http://schemas.openxmlformats.org/officeDocument/2006/relationships/tableStyles" Target="/ppt/tableStyles.xml" Id="R2e7995717b5c4414" /><Relationship Type="http://schemas.openxmlformats.org/officeDocument/2006/relationships/slide" Target="/ppt/slides/slide1.xml" Id="R67c6e464061d4dfc" /><Relationship Type="http://schemas.openxmlformats.org/officeDocument/2006/relationships/slide" Target="/ppt/slides/slide2.xml" Id="R20ada965b5124f9e" /><Relationship Type="http://schemas.openxmlformats.org/officeDocument/2006/relationships/slide" Target="/ppt/slides/slide3.xml" Id="R0ceebbc322824dac" /><Relationship Type="http://schemas.openxmlformats.org/officeDocument/2006/relationships/slide" Target="/ppt/slides/slide4.xml" Id="Rf95ab50b0f174aa3" /><Relationship Type="http://schemas.openxmlformats.org/officeDocument/2006/relationships/slide" Target="/ppt/slides/slide5.xml" Id="Rbd59e874e8b94744" /><Relationship Type="http://schemas.openxmlformats.org/officeDocument/2006/relationships/slide" Target="/ppt/slides/slide6.xml" Id="R068eee19982d4622" /><Relationship Type="http://schemas.openxmlformats.org/officeDocument/2006/relationships/slide" Target="/ppt/slides/slide7.xml" Id="R60c2ef585ce14a2f" /><Relationship Type="http://schemas.openxmlformats.org/officeDocument/2006/relationships/slide" Target="/ppt/slides/slide8.xml" Id="R334ee3b5c6a240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6dc05636f8488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b6d148a40c4aa8" /><Relationship Type="http://schemas.openxmlformats.org/officeDocument/2006/relationships/notesMaster" Target="/ppt/notesMasters/notesMaster1.xml" Id="Rddc97b1acb4a4c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8c97ce69de42d7" /><Relationship Type="http://schemas.openxmlformats.org/officeDocument/2006/relationships/notesMaster" Target="/ppt/notesMasters/notesMaster1.xml" Id="R5e379823f5d441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def7b64db14ba9" /><Relationship Type="http://schemas.openxmlformats.org/officeDocument/2006/relationships/notesMaster" Target="/ppt/notesMasters/notesMaster1.xml" Id="Rae2b116f9c1846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d6b75b46794b21" /><Relationship Type="http://schemas.openxmlformats.org/officeDocument/2006/relationships/notesMaster" Target="/ppt/notesMasters/notesMaster1.xml" Id="R0ad83295bb6644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d6b1db785242e3" /><Relationship Type="http://schemas.openxmlformats.org/officeDocument/2006/relationships/notesMaster" Target="/ppt/notesMasters/notesMaster1.xml" Id="Rac9a8d3ed9d343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662adf78dd43d1" /><Relationship Type="http://schemas.openxmlformats.org/officeDocument/2006/relationships/notesMaster" Target="/ppt/notesMasters/notesMaster1.xml" Id="Rf48ffa46be4e44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6beaabf17754c99" /><Relationship Type="http://schemas.openxmlformats.org/officeDocument/2006/relationships/notesMaster" Target="/ppt/notesMasters/notesMaster1.xml" Id="R56550028ea8f41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19663d094748d8" /><Relationship Type="http://schemas.openxmlformats.org/officeDocument/2006/relationships/notesMaster" Target="/ppt/notesMasters/notesMaster1.xml" Id="R0a47c431de794c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1 of 6 • approximately 50 seconds</a:t>
            </a:r>
          </a:p>
          <a:p xmlns:a="http://schemas.openxmlformats.org/drawingml/2006/main">
            <a:r>
              <a:t/>
            </a:r>
          </a:p>
          <a:p xmlns:a="http://schemas.openxmlformats.org/drawingml/2006/main">
            <a:r>
              <a:t>I am taking a hypothetical regulatory-review perspective, rather than speaking for FDA. The contribution I value is the explicit model for local disagreement, coupled with prior-precision calibration and interpretable diagnostics. Those features can make a borrowing analysis easier to interrogate. For a particular treatment claim, I would want to see why the external control is comparable and how the trial decision behaves when the assumptions fail. I would assess a randomized hybrid trial and a single-arm external comparison differently, because only the former has trial controls that can inform the discrepancy.</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Regulatory source status checked 11 September 2026. FDA. Use of Bayesian Methodology in Clinical Trials of Drug and Biological Products. Draft guidance, January 2026, Section IV.B.1–2, pp. 8–9, and Section V.A, p. 10. https://www.fda.gov/media/190505/download</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2 of 6 • approximately 65 seconds</a:t>
            </a:r>
          </a:p>
          <a:p xmlns:a="http://schemas.openxmlformats.org/drawingml/2006/main">
            <a:r>
              <a:t/>
            </a:r>
          </a:p>
          <a:p xmlns:a="http://schemas.openxmlformats.org/drawingml/2006/main">
            <a:r>
              <a:t>The application provides a useful illustration, and the authors correctly describe it as a conditional, descriptive comparison. Its five-year restricted mean survival ratios are 0.97 for progression-free survival and 0.90 for overall survival, with both credible intervals including one. The adjustment for transplantation after induction needs particular care when interpreting a treatment claim. That variable occurs after treatment begins. I would ask the clinical team to specify the treatment strategies being compared and how transplantation fits the intended estimand before interpreting a causal treatment effect. The paper already acknowledges this limitation. The next question is how a sponsor could use the result appropriately.</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Primary application target=30; 253 registry controls. ASCT=autologous stem cell transplantation. FDA/ICH. E9(R1) Statistical Principles for Clinical Trials: Addendum: Estimands and Sensitivity Analysis in Clinical Trials. Final guidance, May 2021, Sections A.3–A.5. https://www.fda.gov/media/148473/download</a:t>
            </a:r>
          </a:p>
          <a:p xmlns:a="http://schemas.openxmlformats.org/drawingml/2006/main">
            <a:r>
              <a:t>The treatment-claim question is discussant inference. E9(R1) provides the estimand framework, not a verdict on this application.</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3 of 6 • approximately 65 seconds</a:t>
            </a:r>
          </a:p>
          <a:p xmlns:a="http://schemas.openxmlformats.org/drawingml/2006/main">
            <a:r>
              <a:t/>
            </a:r>
          </a:p>
          <a:p xmlns:a="http://schemas.openxmlformats.org/drawingml/2006/main">
            <a:r>
              <a:t>A fitted borrowing map cannot resolve all the external-control questions. In this single-arm application, the discrepancy stays prior driven and the compatibility probability is constant across profiles. Local ESS describes external support at the recorded profiles. I would examine the registry and trial processes directly: their time origins, progression assessment, subsequent care, and loss to follow-up. FDA's external-control draft identifies time-zero alignment and consistent outcome assessment as important comparability issues. For this application, equal residual variances are additionally assumed for calibration and counterfactual survival prediction. I would ask how sensitive the result is to plausible departures from that assumption and to unmeasured differences between sources.</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FDA. Considerations for the Design and Conduct of Externally Controlled Trials for Drug and Biological Products. Draft guidance, February 2023, Sections III.A.4–5 and III.B.3, pp. 7–9 and 11–13. https://www.fda.gov/media/164960/download</a:t>
            </a:r>
          </a:p>
          <a:p xmlns:a="http://schemas.openxmlformats.org/drawingml/2006/main">
            <a:r>
              <a:t>The application uses first treatment day for trial outcomes and induction start for registry outcomes. The slide calls for evaluation of measurement processes; it does not assert a documented mismatch.</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4 of 6 • approximately 65 seconds</a:t>
            </a:r>
          </a:p>
          <a:p xmlns:a="http://schemas.openxmlformats.org/drawingml/2006/main">
            <a:r>
              <a:t/>
            </a:r>
          </a:p>
          <a:p xmlns:a="http://schemas.openxmlformats.org/drawingml/2006/main">
            <a:r>
              <a:t>I would keep the prior-precision calculation separate from validation of the decision procedure. The January 2026 FDA draft discusses both trials calibrated to Type I error and an alternative framework agreed between a sponsor and FDA. The latter uses design-prior-based properties and sensitivity to plausible design priors. It would be inaccurate to claim that this draft imposes a universal Type I error requirement on every Bayesian trial. For this paper, I would ask for the intended success rule and its evaluation using the exact borrowing and calibration procedure proposed for the trial. The authors themselves note that their ESS calibration alone does not control Type I error or power.</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FDA. Use of Bayesian Methodology in Clinical Trials of Drug and Biological Products. Draft guidance, January 2026, Section IV.B.1–2, pp. 8–9, and Section V.A, p. 10. https://www.fda.gov/media/190505/download</a:t>
            </a:r>
          </a:p>
          <a:p xmlns:a="http://schemas.openxmlformats.org/drawingml/2006/main">
            <a:r>
              <a:t>Draft status confirmed from FDA guidance page on 11 September 2026. The alternative framework requires sponsor–FDA agreement in the draft. Design priors generate simulation parameters; analysis priors enter the fitted model.</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5 of 6 • approximately 65 seconds</a:t>
            </a:r>
          </a:p>
          <a:p xmlns:a="http://schemas.openxmlformats.org/drawingml/2006/main">
            <a:r>
              <a:t/>
            </a:r>
          </a:p>
          <a:p xmlns:a="http://schemas.openxmlformats.org/drawingml/2006/main">
            <a:r>
              <a:t>The simulation program already contains useful conflict scenarios. My next step would target the weak spots it reveals. Moderate regional disagreement matters because it can escape strong discounting while reducing coverage. Poor overlap and smaller concurrent-control groups challenge local identification. Survival work should assess censoring, the log-normal assumption, and unequal residual variability. I would then run null and alternative treatment-effect scenarios with the complete success procedure, and appropriate design-prior sensitivity if using that inferential framework. Any interim or map-driven action should be included if it is actually proposed. Finally, I would freeze tuning choices and validate independently, since the development simulations overlap part of the reported study.</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Section 3: Sc4 δ₂=1 coverage=0.89; calibration caps in Sc2; development R=200 overlaps first 200 of main R=500. These are proposed trial-specific tests, not a claim that every future design must use the same scenarios.</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slide 6 of 6 • approximately 55 seconds</a:t>
            </a:r>
          </a:p>
          <a:p xmlns:a="http://schemas.openxmlformats.org/drawingml/2006/main">
            <a:r>
              <a:t/>
            </a:r>
          </a:p>
          <a:p xmlns:a="http://schemas.openxmlformats.org/drawingml/2006/main">
            <a:r>
              <a:t>I find the methodological contribution useful and the discussion of limitations clear. It supports further evaluation of borrowing in a specific trial context. It does not by itself establish the acceptability of a primary efficacy analysis for an unspecified clinical program. I would want the proposed treatment claim, data comparability argument, and decision validation to be presented together. That package should also be reproducible, with the final algorithm, calibration inputs, diagnostics, and sensitivity analyses. I would leave the authors with a question about scope: which clinical use would they pursue next, and what evidence would convince them that the method is reliable there?</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This is a hypothetical discussant judgment, not an FDA determination or submission requirement.</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technical slide</a:t>
            </a:r>
          </a:p>
          <a:p xmlns:a="http://schemas.openxmlformats.org/drawingml/2006/main">
            <a:r>
              <a:t/>
            </a:r>
          </a:p>
          <a:p xmlns:a="http://schemas.openxmlformats.org/drawingml/2006/main">
            <a:r>
              <a:t>Each discrepancy leaf θ has mixture w N(0,τ₀²)+(1−w)N(0,τ₁²). Conditional on z, its variance is τ² indexed by 1−z: z=1 is the spike, z=0 is the slab. At a fixed x, conditional on f, discrepancy partitions, w and scales, the induced f₁ distribution mixes normals centered at f(x), with variance mτ₀²+(H_g−m)τ₁² and binomial weight choose(H_g,m)w^m(1−w)^(H_g−m), m=0,…,H_g. The compatibility map is a posterior probability about the summed discrepancy, not the leaf indicator probability or a treatment-benefit probability. Conditional theoretical results do not establish full learned-partition posterior consistency. Exact collapsed calculations do not by themselves establish good MCMC mixing.</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Section 2 model, compatibility map and conditional theoretical results.</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references</a:t>
            </a:r>
          </a:p>
          <a:p xmlns:a="http://schemas.openxmlformats.org/drawingml/2006/main">
            <a:r>
              <a:t/>
            </a:r>
          </a:p>
          <a:p xmlns:a="http://schemas.openxmlformats.org/drawingml/2006/main">
            <a:r>
              <a:t>FDA. Use of Bayesian Methodology in Clinical Trials of Drug and Biological Products. Draft guidance, January 2026, Section IV.B.1–2, pp. 8–9, and Section V.A, p. 10. https://www.fda.gov/media/190505/download</a:t>
            </a:r>
          </a:p>
          <a:p xmlns:a="http://schemas.openxmlformats.org/drawingml/2006/main">
            <a:r>
              <a:t/>
            </a:r>
          </a:p>
          <a:p xmlns:a="http://schemas.openxmlformats.org/drawingml/2006/main">
            <a:r>
              <a:t>FDA. Considerations for the Design and Conduct of Externally Controlled Trials for Drug and Biological Products. Draft guidance, February 2023, Sections III.A.4–5 and III.B.3, pp. 7–9 and 11–13. https://www.fda.gov/media/164960/download</a:t>
            </a:r>
          </a:p>
          <a:p xmlns:a="http://schemas.openxmlformats.org/drawingml/2006/main">
            <a:r>
              <a:t/>
            </a:r>
          </a:p>
          <a:p xmlns:a="http://schemas.openxmlformats.org/drawingml/2006/main">
            <a:r>
              <a:t>FDA/ICH. E9(R1) Statistical Principles for Clinical Trials: Addendum: Estimands and Sensitivity Analysis in Clinical Trials. Final guidance, May 2021, Sections A.3–A.5. https://www.fda.gov/media/148473/download</a:t>
            </a:r>
          </a:p>
          <a:p xmlns:a="http://schemas.openxmlformats.org/drawingml/2006/main">
            <a:r>
              <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
            </a:r>
          </a:p>
          <a:p xmlns:a="http://schemas.openxmlformats.org/drawingml/2006/main">
            <a:r>
              <a:t>Primary FDA sources only. No FDA logo, affiliation, endorsement or official position is claimed.</a:t>
            </a:r>
          </a:p>
          <a:p xmlns:a="http://schemas.openxmlformats.org/drawingml/2006/main">
            <a:r>
              <a:t/>
            </a:r>
          </a:p>
          <a:p xmlns:a="http://schemas.openxmlformats.org/drawingml/2006/main">
            <a:r>
              <a:t>Sources and scope</a:t>
            </a:r>
          </a:p>
          <a:p xmlns:a="http://schemas.openxmlformats.org/drawingml/2006/main">
            <a:r>
              <a:t>LRC-BART manuscript, revision reviewed 11 September 2026. Source: 05-writing/sections_1_2.tex; 05-writing/sections_3_5.tex; Web Appendix G. Repository snapshot dfbbbf4a72958f01bb67d114437240df75b4770c. https://github.com/oliviazhang0416/mapbart-historical-borrowing/pull/1</a:t>
            </a:r>
          </a:p>
          <a:p xmlns:a="http://schemas.openxmlformats.org/drawingml/2006/main">
            <a:r>
              <a:t/>
            </a:r>
          </a:p>
          <a:p xmlns:a="http://schemas.openxmlformats.org/drawingml/2006/main">
            <a:r>
              <a:t>Recommendations and questions are the discussant's assessment. Numerical results are from the supplied manuscript, not independently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a2bfd9c0fc42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e1bc1f9c7140ff" /><Relationship Type="http://schemas.openxmlformats.org/officeDocument/2006/relationships/slideLayout" Target="/ppt/slideLayouts/slideLayout1.xml" Id="R99dfda4a60c04d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dfda4a60c04d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8c4a24accb4b5c" /><Relationship Type="http://schemas.openxmlformats.org/officeDocument/2006/relationships/notesSlide" Target="/ppt/notesSlides/notesSlide1.xml" Id="R7405522a636540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0d18f7df554220" /><Relationship Type="http://schemas.openxmlformats.org/officeDocument/2006/relationships/notesSlide" Target="/ppt/notesSlides/notesSlide2.xml" Id="R38fdecec173940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84a8a527a64229" /><Relationship Type="http://schemas.openxmlformats.org/officeDocument/2006/relationships/notesSlide" Target="/ppt/notesSlides/notesSlide3.xml" Id="R5142bdee022441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918087314342ce" /><Relationship Type="http://schemas.openxmlformats.org/officeDocument/2006/relationships/notesSlide" Target="/ppt/notesSlides/notesSlide4.xml" Id="R073188d0eb424a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1b6f1c06a9a4de2" /><Relationship Type="http://schemas.openxmlformats.org/officeDocument/2006/relationships/notesSlide" Target="/ppt/notesSlides/notesSlide5.xml" Id="Rfdecef8219ea4d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08c1a515d745f5" /><Relationship Type="http://schemas.openxmlformats.org/officeDocument/2006/relationships/notesSlide" Target="/ppt/notesSlides/notesSlide6.xml" Id="R87c5eb279314401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3365d95a1a4679" /><Relationship Type="http://schemas.openxmlformats.org/officeDocument/2006/relationships/notesSlide" Target="/ppt/notesSlides/notesSlide7.xml" Id="Raf354e03d6cf45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9c60e080287478f" /><Relationship Type="http://schemas.openxmlformats.org/officeDocument/2006/relationships/notesSlide" Target="/ppt/notesSlides/notesSlide8.xml" Id="R1b7749fc19d34172" /></Relationships>
</file>

<file path=ppt/slides/slide1.xml><?xml version="1.0" encoding="utf-8"?>
<p:sld xmlns:p="http://schemas.openxmlformats.org/presentationml/2006/main">
  <p:cSld>
    <p:bg>
      <p:bgPr>
        <a:solidFill xmlns:a="http://schemas.openxmlformats.org/drawingml/2006/main">
          <a:srgbClr val="233F6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CF7AF8-14F9-401D-8DBD-921E8F36E7C4}"/>
              </a:ext>
            </a:extLst>
          </p:cNvPr>
          <p:cNvSpPr>
            <a:spLocks xmlns:a="http://schemas.openxmlformats.org/drawingml/2006/main" noGrp="1"/>
          </p:cNvSpPr>
          <p:nvPr/>
        </p:nvSpPr>
        <p:spPr>
          <a:xfrm xmlns:a="http://schemas.openxmlformats.org/drawingml/2006/main">
            <a:off x="609600" y="866775"/>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LRC-BART</a:t>
            </a:r>
          </a:p>
        </p:txBody>
      </p:sp>
      <p:sp>
        <p:nvSpPr>
          <p:cNvPr id="2" name="">
            <a:extLst xmlns:a="http://schemas.openxmlformats.org/drawingml/2006/main">
              <a:ext uri="{FF2B5EF4-FFF2-40B4-BE49-F238E27FC236}">
                <a16:creationId xmlns:a16="http://schemas.microsoft.com/office/drawing/2014/main" id="{EEFF327B-3DE7-456A-9E44-D97D034B389C}"/>
              </a:ext>
            </a:extLst>
          </p:cNvPr>
          <p:cNvSpPr>
            <a:spLocks xmlns:a="http://schemas.openxmlformats.org/drawingml/2006/main" noGrp="1"/>
          </p:cNvSpPr>
          <p:nvPr/>
        </p:nvSpPr>
        <p:spPr>
          <a:xfrm xmlns:a="http://schemas.openxmlformats.org/drawingml/2006/main">
            <a:off x="647700" y="2095500"/>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FFFF"/>
                </a:solidFill>
                <a:latin typeface="Helvetica Neue"/>
                <a:ea typeface="Helvetica Neue"/>
                <a:cs typeface="Helvetica Neue"/>
              </a:defRPr>
            </a:pPr>
            <a:r>
              <a:rPr sz="3000" b="0">
                <a:solidFill>
                  <a:srgbClr val="FFFFFF"/>
                </a:solidFill>
                <a:latin typeface="Helvetica Neue"/>
                <a:ea typeface="Helvetica Neue"/>
                <a:cs typeface="Helvetica Neue"/>
              </a:rPr>
              <a:t>An FDA-perspective discussion</a:t>
            </a:r>
          </a:p>
        </p:txBody>
      </p:sp>
      <p:sp>
        <p:nvSpPr>
          <p:cNvPr id="3" name="">
            <a:extLst xmlns:a="http://schemas.openxmlformats.org/drawingml/2006/main">
              <a:ext uri="{FF2B5EF4-FFF2-40B4-BE49-F238E27FC236}">
                <a16:creationId xmlns:a16="http://schemas.microsoft.com/office/drawing/2014/main" id="{A9D1956F-A55B-4DDA-A00E-65A7F1EE08CD}"/>
              </a:ext>
            </a:extLst>
          </p:cNvPr>
          <p:cNvSpPr>
            <a:spLocks xmlns:a="http://schemas.openxmlformats.org/drawingml/2006/main" noGrp="1"/>
          </p:cNvSpPr>
          <p:nvPr/>
        </p:nvSpPr>
        <p:spPr>
          <a:xfrm xmlns:a="http://schemas.openxmlformats.org/drawingml/2006/main">
            <a:off x="647700" y="3371850"/>
            <a:ext cx="10191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Helvetica Neue"/>
                <a:ea typeface="Helvetica Neue"/>
                <a:cs typeface="Helvetica Neue"/>
              </a:defRPr>
            </a:pPr>
            <a:r>
              <a:rPr sz="2700" b="0">
                <a:solidFill>
                  <a:srgbClr val="FFFFFF"/>
                </a:solidFill>
                <a:latin typeface="Helvetica Neue"/>
                <a:ea typeface="Helvetica Neue"/>
                <a:cs typeface="Helvetica Neue"/>
              </a:rPr>
              <a:t>This is a promising way to study external information. I would judge its use against a specific treatment claim and trial.</a:t>
            </a:r>
          </a:p>
        </p:txBody>
      </p:sp>
      <p:sp>
        <p:nvSpPr>
          <p:cNvPr id="4" name="">
            <a:extLst xmlns:a="http://schemas.openxmlformats.org/drawingml/2006/main">
              <a:ext uri="{FF2B5EF4-FFF2-40B4-BE49-F238E27FC236}">
                <a16:creationId xmlns:a16="http://schemas.microsoft.com/office/drawing/2014/main" id="{60DCEA71-23C1-492C-994C-FD4A0F19A784}"/>
              </a:ext>
            </a:extLst>
          </p:cNvPr>
          <p:cNvSpPr>
            <a:spLocks xmlns:a="http://schemas.openxmlformats.org/drawingml/2006/main" noGrp="1"/>
          </p:cNvSpPr>
          <p:nvPr/>
        </p:nvSpPr>
        <p:spPr>
          <a:xfrm xmlns:a="http://schemas.openxmlformats.org/drawingml/2006/main">
            <a:off x="647700" y="5495925"/>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Hypothetical discussant view. Not FDA policy or endorsement.</a:t>
            </a:r>
          </a:p>
        </p:txBody>
      </p:sp>
      <p:sp>
        <p:nvSpPr>
          <p:cNvPr id="5" name="">
            <a:extLst xmlns:a="http://schemas.openxmlformats.org/drawingml/2006/main">
              <a:ext uri="{FF2B5EF4-FFF2-40B4-BE49-F238E27FC236}">
                <a16:creationId xmlns:a16="http://schemas.microsoft.com/office/drawing/2014/main" id="{DA518D89-8C06-48F8-B517-B03684B0E526}"/>
              </a:ext>
            </a:extLst>
          </p:cNvPr>
          <p:cNvSpPr>
            <a:spLocks xmlns:a="http://schemas.openxmlformats.org/drawingml/2006/main" noGrp="1"/>
          </p:cNvSpPr>
          <p:nvPr/>
        </p:nvSpPr>
        <p:spPr>
          <a:xfrm xmlns:a="http://schemas.openxmlformats.org/drawingml/2006/main">
            <a:off x="647700" y="62674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Paper discussion  ·  September 2026</a:t>
            </a:r>
          </a:p>
        </p:txBody>
      </p:sp>
    </p:spTree>
    <p:extLst>
      <p:ext uri="{BB962C8B-B14F-4D97-AF65-F5344CB8AC3E}">
        <p14:creationId xmlns:p14="http://schemas.microsoft.com/office/powerpoint/2010/main" val="1780617227"/>
      </p:ext>
    </p:extLst>
  </p:cSld>
</p:sld>
</file>

<file path=ppt/slides/slide2.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C249F0-EF6A-4804-B970-B0220B8BF291}"/>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The application is a descriptive comparison</a:t>
            </a:r>
          </a:p>
        </p:txBody>
      </p:sp>
      <p:sp>
        <p:nvSpPr>
          <p:cNvPr id="2" name="">
            <a:extLst xmlns:a="http://schemas.openxmlformats.org/drawingml/2006/main">
              <a:ext uri="{FF2B5EF4-FFF2-40B4-BE49-F238E27FC236}">
                <a16:creationId xmlns:a16="http://schemas.microsoft.com/office/drawing/2014/main" id="{6DB8F2CA-BE3D-4916-A06F-66B7B4FB751D}"/>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Five-year RMST ratios, standardized to 30 EloKRd trial profiles</a:t>
            </a:r>
          </a:p>
        </p:txBody>
      </p:sp>
      <p:sp>
        <p:nvSpPr>
          <p:cNvPr id="3" name="">
            <a:extLst xmlns:a="http://schemas.openxmlformats.org/drawingml/2006/main">
              <a:ext uri="{FF2B5EF4-FFF2-40B4-BE49-F238E27FC236}">
                <a16:creationId xmlns:a16="http://schemas.microsoft.com/office/drawing/2014/main" id="{9BBD67CD-E845-438F-8DF4-F8F9B8EC09BE}"/>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Sources: manuscript Section 4; ICH E9(R1), final guidance, 2021.</a:t>
            </a:r>
          </a:p>
        </p:txBody>
      </p:sp>
      <p:sp>
        <p:nvSpPr>
          <p:cNvPr id="4" name="">
            <a:extLst xmlns:a="http://schemas.openxmlformats.org/drawingml/2006/main">
              <a:ext uri="{FF2B5EF4-FFF2-40B4-BE49-F238E27FC236}">
                <a16:creationId xmlns:a16="http://schemas.microsoft.com/office/drawing/2014/main" id="{413DF0B3-8D35-4705-8BAF-DCE8DC26FABD}"/>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3F68"/>
                </a:solidFill>
                <a:latin typeface="Helvetica Neue"/>
                <a:ea typeface="Helvetica Neue"/>
                <a:cs typeface="Helvetica Neue"/>
              </a:defRPr>
            </a:pPr>
            <a:r>
              <a:rPr sz="1350" b="1">
                <a:solidFill>
                  <a:srgbClr val="233F68"/>
                </a:solidFill>
                <a:latin typeface="Helvetica Neue"/>
                <a:ea typeface="Helvetica Neue"/>
                <a:cs typeface="Helvetica Neue"/>
              </a:rPr>
              <a:t>02</a:t>
            </a:r>
          </a:p>
        </p:txBody>
      </p:sp>
      <p:graphicFrame>
        <p:nvGraphicFramePr>
          <p:cNvPr id="12" name=""/>
          <p:cNvGraphicFramePr/>
          <p:nvPr/>
        </p:nvGraphicFramePr>
        <p:xfrm>
          <a:off xmlns:a="http://schemas.openxmlformats.org/drawingml/2006/main" x="628650" y="2209800"/>
          <a:ext xmlns:a="http://schemas.openxmlformats.org/drawingml/2006/main" cx="10934700" cy="2076450"/>
        </p:xfrm>
        <a:graphic xmlns:a="http://schemas.openxmlformats.org/drawingml/2006/main">
          <a:graphicData uri="http://schemas.openxmlformats.org/drawingml/2006/table">
            <a:tbl>
              <a:tblPr/>
              <a:tblGrid>
                <a:gridCol w="4905375"/>
                <a:gridCol w="2381250"/>
                <a:gridCol w="3648075"/>
              </a:tblGrid>
              <a:tr h="692150">
                <a:tc>
                  <a:txBody>
                    <a:bodyPr/>
                    <a:lstStyle/>
                    <a:p>
                      <a:r>
                        <a:rPr sz="1950" b="1">
                          <a:solidFill>
                            <a:srgbClr val="FFFFFF"/>
                          </a:solidFill>
                          <a:latin typeface="Helvetica Neue"/>
                          <a:ea typeface="Helvetica Neue"/>
                          <a:cs typeface="Helvetica Neue"/>
                        </a:rPr>
                        <a:t>Endpoint</a:t>
                      </a:r>
                    </a:p>
                  </a:txBody>
                  <a:tcPr marL="152400" marR="114300" marT="114300" marB="114300" anchor="ctr">
                    <a:solidFill>
                      <a:srgbClr val="233F68"/>
                    </a:solidFill>
                  </a:tcPr>
                </a:tc>
                <a:tc>
                  <a:txBody>
                    <a:bodyPr/>
                    <a:lstStyle/>
                    <a:p>
                      <a:r>
                        <a:rPr sz="1950" b="1">
                          <a:solidFill>
                            <a:srgbClr val="FFFFFF"/>
                          </a:solidFill>
                          <a:latin typeface="Helvetica Neue"/>
                          <a:ea typeface="Helvetica Neue"/>
                          <a:cs typeface="Helvetica Neue"/>
                        </a:rPr>
                        <a:t>Mean ratio</a:t>
                      </a:r>
                    </a:p>
                  </a:txBody>
                  <a:tcPr marL="152400" marR="114300" marT="114300" marB="114300" anchor="ctr">
                    <a:solidFill>
                      <a:srgbClr val="233F68"/>
                    </a:solidFill>
                  </a:tcPr>
                </a:tc>
                <a:tc>
                  <a:txBody>
                    <a:bodyPr/>
                    <a:lstStyle/>
                    <a:p>
                      <a:r>
                        <a:rPr sz="1950" b="1">
                          <a:solidFill>
                            <a:srgbClr val="FFFFFF"/>
                          </a:solidFill>
                          <a:latin typeface="Helvetica Neue"/>
                          <a:ea typeface="Helvetica Neue"/>
                          <a:cs typeface="Helvetica Neue"/>
                        </a:rPr>
                        <a:t>95% credible interval</a:t>
                      </a:r>
                    </a:p>
                  </a:txBody>
                  <a:tcPr marL="152400" marR="114300" marT="114300" marB="114300" anchor="ctr">
                    <a:solidFill>
                      <a:srgbClr val="233F68"/>
                    </a:solidFill>
                  </a:tcPr>
                </a:tc>
              </a:tr>
              <a:tr h="692150">
                <a:tc>
                  <a:txBody>
                    <a:bodyPr/>
                    <a:lstStyle/>
                    <a:p>
                      <a:r>
                        <a:rPr sz="1950" b="1">
                          <a:solidFill>
                            <a:srgbClr val="172F3C"/>
                          </a:solidFill>
                          <a:latin typeface="Helvetica Neue"/>
                          <a:ea typeface="Helvetica Neue"/>
                          <a:cs typeface="Helvetica Neue"/>
                        </a:rPr>
                        <a:t>Progression-free survival</a:t>
                      </a:r>
                    </a:p>
                  </a:txBody>
                  <a:tcPr marL="152400" marR="114300" marT="114300" marB="114300" anchor="ctr">
                    <a:solidFill>
                      <a:srgbClr val="FFFFFF"/>
                    </a:solidFill>
                  </a:tcPr>
                </a:tc>
                <a:tc>
                  <a:txBody>
                    <a:bodyPr/>
                    <a:lstStyle/>
                    <a:p>
                      <a:r>
                        <a:rPr sz="1950" b="0">
                          <a:solidFill>
                            <a:srgbClr val="172F3C"/>
                          </a:solidFill>
                          <a:latin typeface="Helvetica Neue"/>
                          <a:ea typeface="Helvetica Neue"/>
                          <a:cs typeface="Helvetica Neue"/>
                        </a:rPr>
                        <a:t>0.97</a:t>
                      </a:r>
                    </a:p>
                  </a:txBody>
                  <a:tcPr marL="152400" marR="114300" marT="114300" marB="114300" anchor="ctr">
                    <a:solidFill>
                      <a:srgbClr val="FFFFFF"/>
                    </a:solidFill>
                  </a:tcPr>
                </a:tc>
                <a:tc>
                  <a:txBody>
                    <a:bodyPr/>
                    <a:lstStyle/>
                    <a:p>
                      <a:r>
                        <a:rPr sz="1950" b="0">
                          <a:solidFill>
                            <a:srgbClr val="172F3C"/>
                          </a:solidFill>
                          <a:latin typeface="Helvetica Neue"/>
                          <a:ea typeface="Helvetica Neue"/>
                          <a:cs typeface="Helvetica Neue"/>
                        </a:rPr>
                        <a:t>0.77–1.23</a:t>
                      </a:r>
                    </a:p>
                  </a:txBody>
                  <a:tcPr marL="152400" marR="114300" marT="114300" marB="114300" anchor="ctr">
                    <a:solidFill>
                      <a:srgbClr val="FFFFFF"/>
                    </a:solidFill>
                  </a:tcPr>
                </a:tc>
              </a:tr>
              <a:tr h="692150">
                <a:tc>
                  <a:txBody>
                    <a:bodyPr/>
                    <a:lstStyle/>
                    <a:p>
                      <a:r>
                        <a:rPr sz="1950" b="1">
                          <a:solidFill>
                            <a:srgbClr val="172F3C"/>
                          </a:solidFill>
                          <a:latin typeface="Helvetica Neue"/>
                          <a:ea typeface="Helvetica Neue"/>
                          <a:cs typeface="Helvetica Neue"/>
                        </a:rPr>
                        <a:t>Overall survival</a:t>
                      </a:r>
                    </a:p>
                  </a:txBody>
                  <a:tcPr marL="152400" marR="114300" marT="114300" marB="114300" anchor="ctr">
                    <a:solidFill>
                      <a:srgbClr val="E9EFEE"/>
                    </a:solidFill>
                  </a:tcPr>
                </a:tc>
                <a:tc>
                  <a:txBody>
                    <a:bodyPr/>
                    <a:lstStyle/>
                    <a:p>
                      <a:r>
                        <a:rPr sz="1950" b="0">
                          <a:solidFill>
                            <a:srgbClr val="172F3C"/>
                          </a:solidFill>
                          <a:latin typeface="Helvetica Neue"/>
                          <a:ea typeface="Helvetica Neue"/>
                          <a:cs typeface="Helvetica Neue"/>
                        </a:rPr>
                        <a:t>0.90</a:t>
                      </a:r>
                    </a:p>
                  </a:txBody>
                  <a:tcPr marL="152400" marR="114300" marT="114300" marB="114300" anchor="ctr">
                    <a:solidFill>
                      <a:srgbClr val="E9EFEE"/>
                    </a:solidFill>
                  </a:tcPr>
                </a:tc>
                <a:tc>
                  <a:txBody>
                    <a:bodyPr/>
                    <a:lstStyle/>
                    <a:p>
                      <a:r>
                        <a:rPr sz="1950" b="0">
                          <a:solidFill>
                            <a:srgbClr val="172F3C"/>
                          </a:solidFill>
                          <a:latin typeface="Helvetica Neue"/>
                          <a:ea typeface="Helvetica Neue"/>
                          <a:cs typeface="Helvetica Neue"/>
                        </a:rPr>
                        <a:t>0.77–1.04</a:t>
                      </a:r>
                    </a:p>
                  </a:txBody>
                  <a:tcPr marL="152400" marR="114300" marT="114300" marB="114300" anchor="ctr">
                    <a:solidFill>
                      <a:srgbClr val="E9EFEE"/>
                    </a:solidFill>
                  </a:tcPr>
                </a:tc>
              </a:tr>
            </a:tbl>
          </a:graphicData>
        </a:graphic>
      </p:graphicFrame>
      <p:sp>
        <p:nvSpPr>
          <p:cNvPr id="6" name="">
            <a:extLst xmlns:a="http://schemas.openxmlformats.org/drawingml/2006/main">
              <a:ext uri="{FF2B5EF4-FFF2-40B4-BE49-F238E27FC236}">
                <a16:creationId xmlns:a16="http://schemas.microsoft.com/office/drawing/2014/main" id="{B5EE1973-4E86-421F-A85F-118A3BE9A291}"/>
              </a:ext>
            </a:extLst>
          </p:cNvPr>
          <p:cNvSpPr>
            <a:spLocks xmlns:a="http://schemas.openxmlformats.org/drawingml/2006/main" noGrp="1"/>
          </p:cNvSpPr>
          <p:nvPr/>
        </p:nvSpPr>
        <p:spPr>
          <a:xfrm xmlns:a="http://schemas.openxmlformats.org/drawingml/2006/main">
            <a:off x="628650" y="4676775"/>
            <a:ext cx="1093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233F68"/>
                </a:solidFill>
                <a:latin typeface="Helvetica Neue"/>
                <a:ea typeface="Helvetica Neue"/>
                <a:cs typeface="Helvetica Neue"/>
              </a:defRPr>
            </a:pPr>
            <a:r>
              <a:rPr sz="2325" b="1">
                <a:solidFill>
                  <a:srgbClr val="233F68"/>
                </a:solidFill>
                <a:latin typeface="Helvetica Neue"/>
                <a:ea typeface="Helvetica Neue"/>
                <a:cs typeface="Helvetica Neue"/>
              </a:rPr>
              <a:t>Adjustment includes ASCT after induction.</a:t>
            </a:r>
          </a:p>
        </p:txBody>
      </p:sp>
      <p:sp>
        <p:nvSpPr>
          <p:cNvPr id="7" name="">
            <a:extLst xmlns:a="http://schemas.openxmlformats.org/drawingml/2006/main">
              <a:ext uri="{FF2B5EF4-FFF2-40B4-BE49-F238E27FC236}">
                <a16:creationId xmlns:a16="http://schemas.microsoft.com/office/drawing/2014/main" id="{FFF47F0D-BE34-4F43-906A-1A240CDE606C}"/>
              </a:ext>
            </a:extLst>
          </p:cNvPr>
          <p:cNvSpPr>
            <a:spLocks xmlns:a="http://schemas.openxmlformats.org/drawingml/2006/main" noGrp="1"/>
          </p:cNvSpPr>
          <p:nvPr/>
        </p:nvSpPr>
        <p:spPr>
          <a:xfrm xmlns:a="http://schemas.openxmlformats.org/drawingml/2006/main">
            <a:off x="628650" y="5305425"/>
            <a:ext cx="10839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F3C"/>
                </a:solidFill>
                <a:latin typeface="Helvetica Neue"/>
                <a:ea typeface="Helvetica Neue"/>
                <a:cs typeface="Helvetica Neue"/>
              </a:defRPr>
            </a:pPr>
            <a:r>
              <a:rPr sz="2175" b="0">
                <a:solidFill>
                  <a:srgbClr val="172F3C"/>
                </a:solidFill>
                <a:latin typeface="Helvetica Neue"/>
                <a:ea typeface="Helvetica Neue"/>
                <a:cs typeface="Helvetica Neue"/>
              </a:rPr>
              <a:t>For a causal claim, I would first define the treatment strategies and how they handle transplantation.</a:t>
            </a:r>
          </a:p>
        </p:txBody>
      </p:sp>
    </p:spTree>
    <p:extLst>
      <p:ext uri="{BB962C8B-B14F-4D97-AF65-F5344CB8AC3E}">
        <p14:creationId xmlns:p14="http://schemas.microsoft.com/office/powerpoint/2010/main" val="291609088"/>
      </p:ext>
    </p:extLst>
  </p:cSld>
</p:sld>
</file>

<file path=ppt/slides/slide3.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292BA4-B1B0-4477-92F5-8C41D4C72843}"/>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Comparability needs evidence beyond the map</a:t>
            </a:r>
          </a:p>
        </p:txBody>
      </p:sp>
      <p:sp>
        <p:nvSpPr>
          <p:cNvPr id="2" name="">
            <a:extLst xmlns:a="http://schemas.openxmlformats.org/drawingml/2006/main">
              <a:ext uri="{FF2B5EF4-FFF2-40B4-BE49-F238E27FC236}">
                <a16:creationId xmlns:a16="http://schemas.microsoft.com/office/drawing/2014/main" id="{9A300647-D77F-49EC-B072-71819A9201EC}"/>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The single-arm likelihood cannot identify the trial-control discrepancy</a:t>
            </a:r>
          </a:p>
        </p:txBody>
      </p:sp>
      <p:sp>
        <p:nvSpPr>
          <p:cNvPr id="3" name="">
            <a:extLst xmlns:a="http://schemas.openxmlformats.org/drawingml/2006/main">
              <a:ext uri="{FF2B5EF4-FFF2-40B4-BE49-F238E27FC236}">
                <a16:creationId xmlns:a16="http://schemas.microsoft.com/office/drawing/2014/main" id="{D7BFAAF3-E2C5-4FCD-A938-53F8B1432D18}"/>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Sources: manuscript Sections 2.6 and 4; FDA external-control draft, February 2023.</a:t>
            </a:r>
          </a:p>
        </p:txBody>
      </p:sp>
      <p:sp>
        <p:nvSpPr>
          <p:cNvPr id="4" name="">
            <a:extLst xmlns:a="http://schemas.openxmlformats.org/drawingml/2006/main">
              <a:ext uri="{FF2B5EF4-FFF2-40B4-BE49-F238E27FC236}">
                <a16:creationId xmlns:a16="http://schemas.microsoft.com/office/drawing/2014/main" id="{0A08CA28-3419-4549-BEF9-F306633278A2}"/>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3F68"/>
                </a:solidFill>
                <a:latin typeface="Helvetica Neue"/>
                <a:ea typeface="Helvetica Neue"/>
                <a:cs typeface="Helvetica Neue"/>
              </a:defRPr>
            </a:pPr>
            <a:r>
              <a:rPr sz="1350" b="1">
                <a:solidFill>
                  <a:srgbClr val="233F68"/>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AE43523-6F95-478C-9EC9-6CA1E71E3159}"/>
              </a:ext>
            </a:extLst>
          </p:cNvPr>
          <p:cNvSpPr>
            <a:spLocks xmlns:a="http://schemas.openxmlformats.org/drawingml/2006/main" noGrp="1"/>
          </p:cNvSpPr>
          <p:nvPr/>
        </p:nvSpPr>
        <p:spPr>
          <a:xfrm xmlns:a="http://schemas.openxmlformats.org/drawingml/2006/main">
            <a:off x="628650" y="218122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F68"/>
                </a:solidFill>
                <a:latin typeface="Helvetica Neue"/>
                <a:ea typeface="Helvetica Neue"/>
                <a:cs typeface="Helvetica Neue"/>
              </a:defRPr>
            </a:pPr>
            <a:r>
              <a:rPr sz="2100" b="1">
                <a:solidFill>
                  <a:srgbClr val="233F68"/>
                </a:solidFill>
                <a:latin typeface="Helvetica Neue"/>
                <a:ea typeface="Helvetica Neue"/>
                <a:cs typeface="Helvetica Neue"/>
              </a:rPr>
              <a:t>Registry information</a:t>
            </a:r>
          </a:p>
        </p:txBody>
      </p:sp>
      <p:sp>
        <p:nvSpPr>
          <p:cNvPr id="6" name="">
            <a:extLst xmlns:a="http://schemas.openxmlformats.org/drawingml/2006/main">
              <a:ext uri="{FF2B5EF4-FFF2-40B4-BE49-F238E27FC236}">
                <a16:creationId xmlns:a16="http://schemas.microsoft.com/office/drawing/2014/main" id="{2CE3B11E-8C63-458B-9F74-FAE001B87FE6}"/>
              </a:ext>
            </a:extLst>
          </p:cNvPr>
          <p:cNvSpPr>
            <a:spLocks xmlns:a="http://schemas.openxmlformats.org/drawingml/2006/main" noGrp="1"/>
          </p:cNvSpPr>
          <p:nvPr/>
        </p:nvSpPr>
        <p:spPr>
          <a:xfrm xmlns:a="http://schemas.openxmlformats.org/drawingml/2006/main">
            <a:off x="4000500" y="218122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Registry outcomes inform the control surface; the discrepancy remains prior driven.</a:t>
            </a:r>
          </a:p>
        </p:txBody>
      </p:sp>
      <p:sp>
        <p:nvSpPr>
          <p:cNvPr id="7" name="">
            <a:extLst xmlns:a="http://schemas.openxmlformats.org/drawingml/2006/main">
              <a:ext uri="{FF2B5EF4-FFF2-40B4-BE49-F238E27FC236}">
                <a16:creationId xmlns:a16="http://schemas.microsoft.com/office/drawing/2014/main" id="{31A0C13F-A603-4E04-A062-660C56229D07}"/>
              </a:ext>
            </a:extLst>
          </p:cNvPr>
          <p:cNvSpPr>
            <a:spLocks xmlns:a="http://schemas.openxmlformats.org/drawingml/2006/main" noGrp="1"/>
          </p:cNvSpPr>
          <p:nvPr/>
        </p:nvSpPr>
        <p:spPr>
          <a:xfrm xmlns:a="http://schemas.openxmlformats.org/drawingml/2006/main">
            <a:off x="628650" y="332422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F68"/>
                </a:solidFill>
                <a:latin typeface="Helvetica Neue"/>
                <a:ea typeface="Helvetica Neue"/>
                <a:cs typeface="Helvetica Neue"/>
              </a:defRPr>
            </a:pPr>
            <a:r>
              <a:rPr sz="2100" b="1">
                <a:solidFill>
                  <a:srgbClr val="233F68"/>
                </a:solidFill>
                <a:latin typeface="Helvetica Neue"/>
                <a:ea typeface="Helvetica Neue"/>
                <a:cs typeface="Helvetica Neue"/>
              </a:rPr>
              <a:t>Comparability checks</a:t>
            </a:r>
          </a:p>
        </p:txBody>
      </p:sp>
      <p:sp>
        <p:nvSpPr>
          <p:cNvPr id="8" name="">
            <a:extLst xmlns:a="http://schemas.openxmlformats.org/drawingml/2006/main">
              <a:ext uri="{FF2B5EF4-FFF2-40B4-BE49-F238E27FC236}">
                <a16:creationId xmlns:a16="http://schemas.microsoft.com/office/drawing/2014/main" id="{C7CC2947-FD7F-4E92-ACD2-E7A3BF8D5FA4}"/>
              </a:ext>
            </a:extLst>
          </p:cNvPr>
          <p:cNvSpPr>
            <a:spLocks xmlns:a="http://schemas.openxmlformats.org/drawingml/2006/main" noGrp="1"/>
          </p:cNvSpPr>
          <p:nvPr/>
        </p:nvSpPr>
        <p:spPr>
          <a:xfrm xmlns:a="http://schemas.openxmlformats.org/drawingml/2006/main">
            <a:off x="4000500" y="332422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Aligned time zero, PFS assessment schedules, subsequent care and missing follow-up.</a:t>
            </a:r>
          </a:p>
        </p:txBody>
      </p:sp>
      <p:sp>
        <p:nvSpPr>
          <p:cNvPr id="9" name="">
            <a:extLst xmlns:a="http://schemas.openxmlformats.org/drawingml/2006/main">
              <a:ext uri="{FF2B5EF4-FFF2-40B4-BE49-F238E27FC236}">
                <a16:creationId xmlns:a16="http://schemas.microsoft.com/office/drawing/2014/main" id="{67D39B05-6680-42C6-9695-1256191FF9D4}"/>
              </a:ext>
            </a:extLst>
          </p:cNvPr>
          <p:cNvSpPr>
            <a:spLocks xmlns:a="http://schemas.openxmlformats.org/drawingml/2006/main" noGrp="1"/>
          </p:cNvSpPr>
          <p:nvPr/>
        </p:nvSpPr>
        <p:spPr>
          <a:xfrm xmlns:a="http://schemas.openxmlformats.org/drawingml/2006/main">
            <a:off x="628650" y="446722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F68"/>
                </a:solidFill>
                <a:latin typeface="Helvetica Neue"/>
                <a:ea typeface="Helvetica Neue"/>
                <a:cs typeface="Helvetica Neue"/>
              </a:defRPr>
            </a:pPr>
            <a:r>
              <a:rPr sz="2100" b="1">
                <a:solidFill>
                  <a:srgbClr val="233F68"/>
                </a:solidFill>
                <a:latin typeface="Helvetica Neue"/>
                <a:ea typeface="Helvetica Neue"/>
                <a:cs typeface="Helvetica Neue"/>
              </a:rPr>
              <a:t>Model assumptions</a:t>
            </a:r>
          </a:p>
        </p:txBody>
      </p:sp>
      <p:sp>
        <p:nvSpPr>
          <p:cNvPr id="10" name="">
            <a:extLst xmlns:a="http://schemas.openxmlformats.org/drawingml/2006/main">
              <a:ext uri="{FF2B5EF4-FFF2-40B4-BE49-F238E27FC236}">
                <a16:creationId xmlns:a16="http://schemas.microsoft.com/office/drawing/2014/main" id="{640E4E2A-D8C3-429D-AA31-79B8E4DFD4F0}"/>
              </a:ext>
            </a:extLst>
          </p:cNvPr>
          <p:cNvSpPr>
            <a:spLocks xmlns:a="http://schemas.openxmlformats.org/drawingml/2006/main" noGrp="1"/>
          </p:cNvSpPr>
          <p:nvPr/>
        </p:nvSpPr>
        <p:spPr>
          <a:xfrm xmlns:a="http://schemas.openxmlformats.org/drawingml/2006/main">
            <a:off x="4000500" y="446722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Unmeasured comparability and equal residual variances for survival prediction.</a:t>
            </a:r>
          </a:p>
        </p:txBody>
      </p:sp>
    </p:spTree>
    <p:extLst>
      <p:ext uri="{BB962C8B-B14F-4D97-AF65-F5344CB8AC3E}">
        <p14:creationId xmlns:p14="http://schemas.microsoft.com/office/powerpoint/2010/main" val="1815937582"/>
      </p:ext>
    </p:extLst>
  </p:cSld>
</p:sld>
</file>

<file path=ppt/slides/slide4.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54B0EA-72D2-42CB-96DD-E5DE63E99B8E}"/>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An ESS target still needs a decision rule</a:t>
            </a:r>
          </a:p>
        </p:txBody>
      </p:sp>
      <p:sp>
        <p:nvSpPr>
          <p:cNvPr id="2" name="">
            <a:extLst xmlns:a="http://schemas.openxmlformats.org/drawingml/2006/main">
              <a:ext uri="{FF2B5EF4-FFF2-40B4-BE49-F238E27FC236}">
                <a16:creationId xmlns:a16="http://schemas.microsoft.com/office/drawing/2014/main" id="{66E8D15B-9FBE-44D8-9955-76D90BDC7734}"/>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The January 2026 Bayesian guidance is a draft, not final guidance</a:t>
            </a:r>
          </a:p>
        </p:txBody>
      </p:sp>
      <p:sp>
        <p:nvSpPr>
          <p:cNvPr id="3" name="">
            <a:extLst xmlns:a="http://schemas.openxmlformats.org/drawingml/2006/main">
              <a:ext uri="{FF2B5EF4-FFF2-40B4-BE49-F238E27FC236}">
                <a16:creationId xmlns:a16="http://schemas.microsoft.com/office/drawing/2014/main" id="{A73DCEAF-6BB6-462C-A62D-74C55729CAE1}"/>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Sources: manuscript Sections 2.4–2.5 and 5; FDA Bayesian draft, IV.B.1–2 and V.A.</a:t>
            </a:r>
          </a:p>
        </p:txBody>
      </p:sp>
      <p:sp>
        <p:nvSpPr>
          <p:cNvPr id="4" name="">
            <a:extLst xmlns:a="http://schemas.openxmlformats.org/drawingml/2006/main">
              <a:ext uri="{FF2B5EF4-FFF2-40B4-BE49-F238E27FC236}">
                <a16:creationId xmlns:a16="http://schemas.microsoft.com/office/drawing/2014/main" id="{D891A436-5EA4-452B-A105-AB6EB04467B5}"/>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3F68"/>
                </a:solidFill>
                <a:latin typeface="Helvetica Neue"/>
                <a:ea typeface="Helvetica Neue"/>
                <a:cs typeface="Helvetica Neue"/>
              </a:defRPr>
            </a:pPr>
            <a:r>
              <a:rPr sz="1350" b="1">
                <a:solidFill>
                  <a:srgbClr val="233F68"/>
                </a:solidFill>
                <a:latin typeface="Helvetica Neue"/>
                <a:ea typeface="Helvetica Neue"/>
                <a:cs typeface="Helvetica Neue"/>
              </a:rPr>
              <a:t>04</a:t>
            </a:r>
          </a:p>
        </p:txBody>
      </p:sp>
      <p:graphicFrame>
        <p:nvGraphicFramePr>
          <p:cNvPr id="12" name=""/>
          <p:cNvGraphicFramePr/>
          <p:nvPr/>
        </p:nvGraphicFramePr>
        <p:xfrm>
          <a:off xmlns:a="http://schemas.openxmlformats.org/drawingml/2006/main" x="628650" y="2209800"/>
          <a:ext xmlns:a="http://schemas.openxmlformats.org/drawingml/2006/main" cx="10934700" cy="2466975"/>
        </p:xfrm>
        <a:graphic xmlns:a="http://schemas.openxmlformats.org/drawingml/2006/main">
          <a:graphicData uri="http://schemas.openxmlformats.org/drawingml/2006/table">
            <a:tbl>
              <a:tblPr/>
              <a:tblGrid>
                <a:gridCol w="4467225"/>
                <a:gridCol w="6467475"/>
              </a:tblGrid>
              <a:tr h="822325">
                <a:tc>
                  <a:txBody>
                    <a:bodyPr/>
                    <a:lstStyle/>
                    <a:p>
                      <a:r>
                        <a:rPr sz="1950" b="1">
                          <a:solidFill>
                            <a:srgbClr val="FFFFFF"/>
                          </a:solidFill>
                          <a:latin typeface="Helvetica Neue"/>
                          <a:ea typeface="Helvetica Neue"/>
                          <a:cs typeface="Helvetica Neue"/>
                        </a:rPr>
                        <a:t>Inferential framework</a:t>
                      </a:r>
                    </a:p>
                  </a:txBody>
                  <a:tcPr marL="152400" marR="114300" marT="114300" marB="114300" anchor="ctr">
                    <a:solidFill>
                      <a:srgbClr val="233F68"/>
                    </a:solidFill>
                  </a:tcPr>
                </a:tc>
                <a:tc>
                  <a:txBody>
                    <a:bodyPr/>
                    <a:lstStyle/>
                    <a:p>
                      <a:r>
                        <a:rPr sz="1950" b="1">
                          <a:solidFill>
                            <a:srgbClr val="FFFFFF"/>
                          </a:solidFill>
                          <a:latin typeface="Helvetica Neue"/>
                          <a:ea typeface="Helvetica Neue"/>
                          <a:cs typeface="Helvetica Neue"/>
                        </a:rPr>
                        <a:t>Relevant design evaluation</a:t>
                      </a:r>
                    </a:p>
                  </a:txBody>
                  <a:tcPr marL="152400" marR="114300" marT="114300" marB="114300" anchor="ctr">
                    <a:solidFill>
                      <a:srgbClr val="233F68"/>
                    </a:solidFill>
                  </a:tcPr>
                </a:tc>
              </a:tr>
              <a:tr h="822325">
                <a:tc>
                  <a:txBody>
                    <a:bodyPr/>
                    <a:lstStyle/>
                    <a:p>
                      <a:r>
                        <a:rPr sz="1950" b="1">
                          <a:solidFill>
                            <a:srgbClr val="172F3C"/>
                          </a:solidFill>
                          <a:latin typeface="Helvetica Neue"/>
                          <a:ea typeface="Helvetica Neue"/>
                          <a:cs typeface="Helvetica Neue"/>
                        </a:rPr>
                        <a:t>Calibrated to Type I error</a:t>
                      </a:r>
                    </a:p>
                  </a:txBody>
                  <a:tcPr marL="152400" marR="114300" marT="114300" marB="114300" anchor="ctr">
                    <a:solidFill>
                      <a:srgbClr val="FFFFFF"/>
                    </a:solidFill>
                  </a:tcPr>
                </a:tc>
                <a:tc>
                  <a:txBody>
                    <a:bodyPr/>
                    <a:lstStyle/>
                    <a:p>
                      <a:r>
                        <a:rPr sz="1950" b="0">
                          <a:solidFill>
                            <a:srgbClr val="172F3C"/>
                          </a:solidFill>
                          <a:latin typeface="Helvetica Neue"/>
                          <a:ea typeface="Helvetica Neue"/>
                          <a:cs typeface="Helvetica Neue"/>
                        </a:rPr>
                        <a:t>Error rates and power across plausible scenarios</a:t>
                      </a:r>
                    </a:p>
                  </a:txBody>
                  <a:tcPr marL="152400" marR="114300" marT="114300" marB="114300" anchor="ctr">
                    <a:solidFill>
                      <a:srgbClr val="FFFFFF"/>
                    </a:solidFill>
                  </a:tcPr>
                </a:tc>
              </a:tr>
              <a:tr h="822325">
                <a:tc>
                  <a:txBody>
                    <a:bodyPr/>
                    <a:lstStyle/>
                    <a:p>
                      <a:r>
                        <a:rPr sz="1950" b="1">
                          <a:solidFill>
                            <a:srgbClr val="172F3C"/>
                          </a:solidFill>
                          <a:latin typeface="Helvetica Neue"/>
                          <a:ea typeface="Helvetica Neue"/>
                          <a:cs typeface="Helvetica Neue"/>
                        </a:rPr>
                        <a:t>Alternative agreed with FDA</a:t>
                      </a:r>
                    </a:p>
                  </a:txBody>
                  <a:tcPr marL="152400" marR="114300" marT="114300" marB="114300" anchor="ctr">
                    <a:solidFill>
                      <a:srgbClr val="E9EFEE"/>
                    </a:solidFill>
                  </a:tcPr>
                </a:tc>
                <a:tc>
                  <a:txBody>
                    <a:bodyPr/>
                    <a:lstStyle/>
                    <a:p>
                      <a:r>
                        <a:rPr sz="1950" b="0">
                          <a:solidFill>
                            <a:srgbClr val="172F3C"/>
                          </a:solidFill>
                          <a:latin typeface="Helvetica Neue"/>
                          <a:ea typeface="Helvetica Neue"/>
                          <a:cs typeface="Helvetica Neue"/>
                        </a:rPr>
                        <a:t>Prior-averaged decision properties and sensitivity to design priors</a:t>
                      </a:r>
                    </a:p>
                  </a:txBody>
                  <a:tcPr marL="152400" marR="114300" marT="114300" marB="114300" anchor="ctr">
                    <a:solidFill>
                      <a:srgbClr val="E9EFEE"/>
                    </a:solidFill>
                  </a:tcPr>
                </a:tc>
              </a:tr>
            </a:tbl>
          </a:graphicData>
        </a:graphic>
      </p:graphicFrame>
      <p:sp>
        <p:nvSpPr>
          <p:cNvPr id="6" name="">
            <a:extLst xmlns:a="http://schemas.openxmlformats.org/drawingml/2006/main">
              <a:ext uri="{FF2B5EF4-FFF2-40B4-BE49-F238E27FC236}">
                <a16:creationId xmlns:a16="http://schemas.microsoft.com/office/drawing/2014/main" id="{0253CFF6-F927-496C-802B-F7873E42F332}"/>
              </a:ext>
            </a:extLst>
          </p:cNvPr>
          <p:cNvSpPr>
            <a:spLocks xmlns:a="http://schemas.openxmlformats.org/drawingml/2006/main" noGrp="1"/>
          </p:cNvSpPr>
          <p:nvPr/>
        </p:nvSpPr>
        <p:spPr>
          <a:xfrm xmlns:a="http://schemas.openxmlformats.org/drawingml/2006/main">
            <a:off x="628650" y="5076825"/>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33F68"/>
                </a:solidFill>
                <a:latin typeface="Helvetica Neue"/>
                <a:ea typeface="Helvetica Neue"/>
                <a:cs typeface="Helvetica Neue"/>
              </a:defRPr>
            </a:pPr>
            <a:r>
              <a:rPr sz="2400" b="1">
                <a:solidFill>
                  <a:srgbClr val="233F68"/>
                </a:solidFill>
                <a:latin typeface="Helvetica Neue"/>
                <a:ea typeface="Helvetica Neue"/>
                <a:cs typeface="Helvetica Neue"/>
              </a:rPr>
              <a:t>An ESS target alone does not establish either set of properties.</a:t>
            </a:r>
          </a:p>
        </p:txBody>
      </p:sp>
      <p:sp>
        <p:nvSpPr>
          <p:cNvPr id="7" name="">
            <a:extLst xmlns:a="http://schemas.openxmlformats.org/drawingml/2006/main">
              <a:ext uri="{FF2B5EF4-FFF2-40B4-BE49-F238E27FC236}">
                <a16:creationId xmlns:a16="http://schemas.microsoft.com/office/drawing/2014/main" id="{A7D98037-E009-4B28-ABDE-D9BFB088F2DE}"/>
              </a:ext>
            </a:extLst>
          </p:cNvPr>
          <p:cNvSpPr>
            <a:spLocks xmlns:a="http://schemas.openxmlformats.org/drawingml/2006/main" noGrp="1"/>
          </p:cNvSpPr>
          <p:nvPr/>
        </p:nvSpPr>
        <p:spPr>
          <a:xfrm xmlns:a="http://schemas.openxmlformats.org/drawingml/2006/main">
            <a:off x="628650" y="573405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3C"/>
                </a:solidFill>
                <a:latin typeface="Helvetica Neue"/>
                <a:ea typeface="Helvetica Neue"/>
                <a:cs typeface="Helvetica Neue"/>
              </a:defRPr>
            </a:pPr>
            <a:r>
              <a:rPr sz="2025" b="0">
                <a:solidFill>
                  <a:srgbClr val="172F3C"/>
                </a:solidFill>
                <a:latin typeface="Helvetica Neue"/>
                <a:ea typeface="Helvetica Neue"/>
                <a:cs typeface="Helvetica Neue"/>
              </a:rPr>
              <a:t>I would ask the authors to justify the full prior and success rule for this use.</a:t>
            </a:r>
          </a:p>
        </p:txBody>
      </p:sp>
    </p:spTree>
    <p:extLst>
      <p:ext uri="{BB962C8B-B14F-4D97-AF65-F5344CB8AC3E}">
        <p14:creationId xmlns:p14="http://schemas.microsoft.com/office/powerpoint/2010/main" val="84849648"/>
      </p:ext>
    </p:extLst>
  </p:cSld>
</p:sld>
</file>

<file path=ppt/slides/slide5.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142D67-6896-4579-B1AB-CFBF095FF783}"/>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Where I would test the method next</a:t>
            </a:r>
          </a:p>
        </p:txBody>
      </p:sp>
      <p:sp>
        <p:nvSpPr>
          <p:cNvPr id="2" name="">
            <a:extLst xmlns:a="http://schemas.openxmlformats.org/drawingml/2006/main">
              <a:ext uri="{FF2B5EF4-FFF2-40B4-BE49-F238E27FC236}">
                <a16:creationId xmlns:a16="http://schemas.microsoft.com/office/drawing/2014/main" id="{C64EDB6E-72A2-478E-B1A8-63AF93221ED6}"/>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A trial-specific evaluation of the entire proposed analysis</a:t>
            </a:r>
          </a:p>
        </p:txBody>
      </p:sp>
      <p:sp>
        <p:nvSpPr>
          <p:cNvPr id="3" name="">
            <a:extLst xmlns:a="http://schemas.openxmlformats.org/drawingml/2006/main">
              <a:ext uri="{FF2B5EF4-FFF2-40B4-BE49-F238E27FC236}">
                <a16:creationId xmlns:a16="http://schemas.microsoft.com/office/drawing/2014/main" id="{EF1D4F67-1022-4B44-89AD-28354A93765A}"/>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Discussant priorities based on the paper’s regional-shift and calibration results.</a:t>
            </a:r>
          </a:p>
        </p:txBody>
      </p:sp>
      <p:sp>
        <p:nvSpPr>
          <p:cNvPr id="4" name="">
            <a:extLst xmlns:a="http://schemas.openxmlformats.org/drawingml/2006/main">
              <a:ext uri="{FF2B5EF4-FFF2-40B4-BE49-F238E27FC236}">
                <a16:creationId xmlns:a16="http://schemas.microsoft.com/office/drawing/2014/main" id="{1309D51E-A767-4717-A3B3-291F61017112}"/>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3F68"/>
                </a:solidFill>
                <a:latin typeface="Helvetica Neue"/>
                <a:ea typeface="Helvetica Neue"/>
                <a:cs typeface="Helvetica Neue"/>
              </a:defRPr>
            </a:pPr>
            <a:r>
              <a:rPr sz="1350" b="1">
                <a:solidFill>
                  <a:srgbClr val="233F68"/>
                </a:solidFill>
                <a:latin typeface="Helvetica Neue"/>
                <a:ea typeface="Helvetica Neue"/>
                <a:cs typeface="Helvetica Neue"/>
              </a:rPr>
              <a:t>05</a:t>
            </a:r>
          </a:p>
        </p:txBody>
      </p:sp>
      <p:graphicFrame>
        <p:nvGraphicFramePr>
          <p:cNvPr id="11" name=""/>
          <p:cNvGraphicFramePr/>
          <p:nvPr/>
        </p:nvGraphicFramePr>
        <p:xfrm>
          <a:off xmlns:a="http://schemas.openxmlformats.org/drawingml/2006/main" x="628650" y="2209800"/>
          <a:ext xmlns:a="http://schemas.openxmlformats.org/drawingml/2006/main" cx="10934700" cy="2952750"/>
        </p:xfrm>
        <a:graphic xmlns:a="http://schemas.openxmlformats.org/drawingml/2006/main">
          <a:graphicData uri="http://schemas.openxmlformats.org/drawingml/2006/table">
            <a:tbl>
              <a:tblPr/>
              <a:tblGrid>
                <a:gridCol w="4495800"/>
                <a:gridCol w="6438900"/>
              </a:tblGrid>
              <a:tr h="590550">
                <a:tc>
                  <a:txBody>
                    <a:bodyPr/>
                    <a:lstStyle/>
                    <a:p>
                      <a:r>
                        <a:rPr sz="1800" b="1">
                          <a:solidFill>
                            <a:srgbClr val="FFFFFF"/>
                          </a:solidFill>
                          <a:latin typeface="Helvetica Neue"/>
                          <a:ea typeface="Helvetica Neue"/>
                          <a:cs typeface="Helvetica Neue"/>
                        </a:rPr>
                        <a:t>Challenge</a:t>
                      </a:r>
                    </a:p>
                  </a:txBody>
                  <a:tcPr marL="152400" marR="114300" marT="114300" marB="114300" anchor="ctr">
                    <a:solidFill>
                      <a:srgbClr val="233F68"/>
                    </a:solidFill>
                  </a:tcPr>
                </a:tc>
                <a:tc>
                  <a:txBody>
                    <a:bodyPr/>
                    <a:lstStyle/>
                    <a:p>
                      <a:r>
                        <a:rPr sz="1800" b="1">
                          <a:solidFill>
                            <a:srgbClr val="FFFFFF"/>
                          </a:solidFill>
                          <a:latin typeface="Helvetica Neue"/>
                          <a:ea typeface="Helvetica Neue"/>
                          <a:cs typeface="Helvetica Neue"/>
                        </a:rPr>
                        <a:t>Reason to include it</a:t>
                      </a:r>
                    </a:p>
                  </a:txBody>
                  <a:tcPr marL="152400" marR="114300" marT="114300" marB="114300" anchor="ctr">
                    <a:solidFill>
                      <a:srgbClr val="233F68"/>
                    </a:solidFill>
                  </a:tcPr>
                </a:tc>
              </a:tr>
              <a:tr h="590550">
                <a:tc>
                  <a:txBody>
                    <a:bodyPr/>
                    <a:lstStyle/>
                    <a:p>
                      <a:r>
                        <a:rPr sz="1800" b="1">
                          <a:solidFill>
                            <a:srgbClr val="172F3C"/>
                          </a:solidFill>
                          <a:latin typeface="Helvetica Neue"/>
                          <a:ea typeface="Helvetica Neue"/>
                          <a:cs typeface="Helvetica Neue"/>
                        </a:rPr>
                        <a:t>Moderate local disagreement</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Sc4 coverage falls to 89% at a shift of 1</a:t>
                      </a:r>
                    </a:p>
                  </a:txBody>
                  <a:tcPr marL="152400" marR="114300" marT="114300" marB="114300" anchor="ctr">
                    <a:solidFill>
                      <a:srgbClr val="FFFFFF"/>
                    </a:solidFill>
                  </a:tcPr>
                </a:tc>
              </a:tr>
              <a:tr h="590550">
                <a:tc>
                  <a:txBody>
                    <a:bodyPr/>
                    <a:lstStyle/>
                    <a:p>
                      <a:r>
                        <a:rPr sz="1800" b="1">
                          <a:solidFill>
                            <a:srgbClr val="172F3C"/>
                          </a:solidFill>
                          <a:latin typeface="Helvetica Neue"/>
                          <a:ea typeface="Helvetica Neue"/>
                          <a:cs typeface="Helvetica Neue"/>
                        </a:rPr>
                        <a:t>Poor overlap and few controls</a:t>
                      </a:r>
                    </a:p>
                  </a:txBody>
                  <a:tcPr marL="152400" marR="114300" marT="114300" marB="114300" anchor="ctr">
                    <a:solidFill>
                      <a:srgbClr val="E9EFEE"/>
                    </a:solidFill>
                  </a:tcPr>
                </a:tc>
                <a:tc>
                  <a:txBody>
                    <a:bodyPr/>
                    <a:lstStyle/>
                    <a:p>
                      <a:r>
                        <a:rPr sz="1800" b="0">
                          <a:solidFill>
                            <a:srgbClr val="172F3C"/>
                          </a:solidFill>
                          <a:latin typeface="Helvetica Neue"/>
                          <a:ea typeface="Helvetica Neue"/>
                          <a:cs typeface="Helvetica Neue"/>
                        </a:rPr>
                        <a:t>Ceiling caps and weak local identification</a:t>
                      </a:r>
                    </a:p>
                  </a:txBody>
                  <a:tcPr marL="152400" marR="114300" marT="114300" marB="114300" anchor="ctr">
                    <a:solidFill>
                      <a:srgbClr val="E9EFEE"/>
                    </a:solidFill>
                  </a:tcPr>
                </a:tc>
              </a:tr>
              <a:tr h="590550">
                <a:tc>
                  <a:txBody>
                    <a:bodyPr/>
                    <a:lstStyle/>
                    <a:p>
                      <a:r>
                        <a:rPr sz="1800" b="1">
                          <a:solidFill>
                            <a:srgbClr val="172F3C"/>
                          </a:solidFill>
                          <a:latin typeface="Helvetica Neue"/>
                          <a:ea typeface="Helvetica Neue"/>
                          <a:cs typeface="Helvetica Neue"/>
                        </a:rPr>
                        <a:t>Censoring and model departures</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Sensitivity of survival summaries and uncertainty</a:t>
                      </a:r>
                    </a:p>
                  </a:txBody>
                  <a:tcPr marL="152400" marR="114300" marT="114300" marB="114300" anchor="ctr">
                    <a:solidFill>
                      <a:srgbClr val="FFFFFF"/>
                    </a:solidFill>
                  </a:tcPr>
                </a:tc>
              </a:tr>
              <a:tr h="590550">
                <a:tc>
                  <a:txBody>
                    <a:bodyPr/>
                    <a:lstStyle/>
                    <a:p>
                      <a:r>
                        <a:rPr sz="1800" b="1">
                          <a:solidFill>
                            <a:srgbClr val="172F3C"/>
                          </a:solidFill>
                          <a:latin typeface="Helvetica Neue"/>
                          <a:ea typeface="Helvetica Neue"/>
                          <a:cs typeface="Helvetica Neue"/>
                        </a:rPr>
                        <a:t>Prior and decision-rule mismatch</a:t>
                      </a:r>
                    </a:p>
                  </a:txBody>
                  <a:tcPr marL="152400" marR="114300" marT="114300" marB="114300" anchor="ctr">
                    <a:solidFill>
                      <a:srgbClr val="E9EFEE"/>
                    </a:solidFill>
                  </a:tcPr>
                </a:tc>
                <a:tc>
                  <a:txBody>
                    <a:bodyPr/>
                    <a:lstStyle/>
                    <a:p>
                      <a:r>
                        <a:rPr sz="1800" b="0">
                          <a:solidFill>
                            <a:srgbClr val="172F3C"/>
                          </a:solidFill>
                          <a:latin typeface="Helvetica Neue"/>
                          <a:ea typeface="Helvetica Neue"/>
                          <a:cs typeface="Helvetica Neue"/>
                        </a:rPr>
                        <a:t>Reliability when the assumed borrowing is wrong</a:t>
                      </a:r>
                    </a:p>
                  </a:txBody>
                  <a:tcPr marL="152400" marR="114300" marT="114300" marB="114300" anchor="ctr">
                    <a:solidFill>
                      <a:srgbClr val="E9EFEE"/>
                    </a:solidFill>
                  </a:tcPr>
                </a:tc>
              </a:tr>
            </a:tbl>
          </a:graphicData>
        </a:graphic>
      </p:graphicFrame>
      <p:sp>
        <p:nvSpPr>
          <p:cNvPr id="6" name="">
            <a:extLst xmlns:a="http://schemas.openxmlformats.org/drawingml/2006/main">
              <a:ext uri="{FF2B5EF4-FFF2-40B4-BE49-F238E27FC236}">
                <a16:creationId xmlns:a16="http://schemas.microsoft.com/office/drawing/2014/main" id="{2953168E-425E-41DA-91D5-C2E36CADA737}"/>
              </a:ext>
            </a:extLst>
          </p:cNvPr>
          <p:cNvSpPr>
            <a:spLocks xmlns:a="http://schemas.openxmlformats.org/drawingml/2006/main" noGrp="1"/>
          </p:cNvSpPr>
          <p:nvPr/>
        </p:nvSpPr>
        <p:spPr>
          <a:xfrm xmlns:a="http://schemas.openxmlformats.org/drawingml/2006/main">
            <a:off x="628650" y="5524500"/>
            <a:ext cx="1093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33F68"/>
                </a:solidFill>
                <a:latin typeface="Helvetica Neue"/>
                <a:ea typeface="Helvetica Neue"/>
                <a:cs typeface="Helvetica Neue"/>
              </a:defRPr>
            </a:pPr>
            <a:r>
              <a:rPr sz="2175" b="1">
                <a:solidFill>
                  <a:srgbClr val="233F68"/>
                </a:solidFill>
                <a:latin typeface="Helvetica Neue"/>
                <a:ea typeface="Helvetica Neue"/>
                <a:cs typeface="Helvetica Neue"/>
              </a:rPr>
              <a:t>Null and alternative scenarios; independent runs after tuning is frozen.</a:t>
            </a:r>
          </a:p>
        </p:txBody>
      </p:sp>
    </p:spTree>
    <p:extLst>
      <p:ext uri="{BB962C8B-B14F-4D97-AF65-F5344CB8AC3E}">
        <p14:creationId xmlns:p14="http://schemas.microsoft.com/office/powerpoint/2010/main" val="1483776609"/>
      </p:ext>
    </p:extLst>
  </p:cSld>
</p:sld>
</file>

<file path=ppt/slides/slide6.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6F0B18B-C116-4906-BFE6-9BFC9683E569}"/>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My assessment for a regulatory discussion</a:t>
            </a:r>
          </a:p>
        </p:txBody>
      </p:sp>
      <p:sp>
        <p:nvSpPr>
          <p:cNvPr id="2" name="">
            <a:extLst xmlns:a="http://schemas.openxmlformats.org/drawingml/2006/main">
              <a:ext uri="{FF2B5EF4-FFF2-40B4-BE49-F238E27FC236}">
                <a16:creationId xmlns:a16="http://schemas.microsoft.com/office/drawing/2014/main" id="{EE22020F-47B7-453C-816E-33B0E36A3530}"/>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The paper makes a useful contribution. Primary use needs a trial-specific case.</a:t>
            </a:r>
          </a:p>
        </p:txBody>
      </p:sp>
      <p:sp>
        <p:nvSpPr>
          <p:cNvPr id="3" name="">
            <a:extLst xmlns:a="http://schemas.openxmlformats.org/drawingml/2006/main">
              <a:ext uri="{FF2B5EF4-FFF2-40B4-BE49-F238E27FC236}">
                <a16:creationId xmlns:a16="http://schemas.microsoft.com/office/drawing/2014/main" id="{5072A9FF-95D2-484E-912F-6BEA0DE30377}"/>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Hypothetical discussant assessment.</a:t>
            </a:r>
          </a:p>
        </p:txBody>
      </p:sp>
      <p:sp>
        <p:nvSpPr>
          <p:cNvPr id="4" name="">
            <a:extLst xmlns:a="http://schemas.openxmlformats.org/drawingml/2006/main">
              <a:ext uri="{FF2B5EF4-FFF2-40B4-BE49-F238E27FC236}">
                <a16:creationId xmlns:a16="http://schemas.microsoft.com/office/drawing/2014/main" id="{43927697-A361-4396-BBFC-B99E6D30E661}"/>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3F68"/>
                </a:solidFill>
                <a:latin typeface="Helvetica Neue"/>
                <a:ea typeface="Helvetica Neue"/>
                <a:cs typeface="Helvetica Neue"/>
              </a:defRPr>
            </a:pPr>
            <a:r>
              <a:rPr sz="1350" b="1">
                <a:solidFill>
                  <a:srgbClr val="233F68"/>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FA0ADD25-0D65-4607-BC6A-4AC05739F7BF}"/>
              </a:ext>
            </a:extLst>
          </p:cNvPr>
          <p:cNvSpPr>
            <a:spLocks xmlns:a="http://schemas.openxmlformats.org/drawingml/2006/main" noGrp="1"/>
          </p:cNvSpPr>
          <p:nvPr/>
        </p:nvSpPr>
        <p:spPr>
          <a:xfrm xmlns:a="http://schemas.openxmlformats.org/drawingml/2006/main">
            <a:off x="628650" y="22383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F68"/>
                </a:solidFill>
                <a:latin typeface="Helvetica Neue"/>
                <a:ea typeface="Helvetica Neue"/>
                <a:cs typeface="Helvetica Neue"/>
              </a:defRPr>
            </a:pPr>
            <a:r>
              <a:rPr sz="2100" b="1">
                <a:solidFill>
                  <a:srgbClr val="233F68"/>
                </a:solidFill>
                <a:latin typeface="Helvetica Neue"/>
                <a:ea typeface="Helvetica Neue"/>
                <a:cs typeface="Helvetica Neue"/>
              </a:rPr>
              <a:t>What the paper supports</a:t>
            </a:r>
          </a:p>
        </p:txBody>
      </p:sp>
      <p:sp>
        <p:nvSpPr>
          <p:cNvPr id="6" name="">
            <a:extLst xmlns:a="http://schemas.openxmlformats.org/drawingml/2006/main">
              <a:ext uri="{FF2B5EF4-FFF2-40B4-BE49-F238E27FC236}">
                <a16:creationId xmlns:a16="http://schemas.microsoft.com/office/drawing/2014/main" id="{291D2B76-28D6-44DA-A92F-573016AE55CD}"/>
              </a:ext>
            </a:extLst>
          </p:cNvPr>
          <p:cNvSpPr>
            <a:spLocks xmlns:a="http://schemas.openxmlformats.org/drawingml/2006/main" noGrp="1"/>
          </p:cNvSpPr>
          <p:nvPr/>
        </p:nvSpPr>
        <p:spPr>
          <a:xfrm xmlns:a="http://schemas.openxmlformats.org/drawingml/2006/main">
            <a:off x="4000500" y="223837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Method development, simulation evidence and a descriptive application.</a:t>
            </a:r>
          </a:p>
        </p:txBody>
      </p:sp>
      <p:sp>
        <p:nvSpPr>
          <p:cNvPr id="7" name="">
            <a:extLst xmlns:a="http://schemas.openxmlformats.org/drawingml/2006/main">
              <a:ext uri="{FF2B5EF4-FFF2-40B4-BE49-F238E27FC236}">
                <a16:creationId xmlns:a16="http://schemas.microsoft.com/office/drawing/2014/main" id="{81C58D43-76D1-410E-ACCC-4735E53921C2}"/>
              </a:ext>
            </a:extLst>
          </p:cNvPr>
          <p:cNvSpPr>
            <a:spLocks xmlns:a="http://schemas.openxmlformats.org/drawingml/2006/main" noGrp="1"/>
          </p:cNvSpPr>
          <p:nvPr/>
        </p:nvSpPr>
        <p:spPr>
          <a:xfrm xmlns:a="http://schemas.openxmlformats.org/drawingml/2006/main">
            <a:off x="628650" y="340042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F68"/>
                </a:solidFill>
                <a:latin typeface="Helvetica Neue"/>
                <a:ea typeface="Helvetica Neue"/>
                <a:cs typeface="Helvetica Neue"/>
              </a:defRPr>
            </a:pPr>
            <a:r>
              <a:rPr sz="2100" b="1">
                <a:solidFill>
                  <a:srgbClr val="233F68"/>
                </a:solidFill>
                <a:latin typeface="Helvetica Neue"/>
                <a:ea typeface="Helvetica Neue"/>
                <a:cs typeface="Helvetica Neue"/>
              </a:rPr>
              <a:t>What primary use needs</a:t>
            </a:r>
          </a:p>
        </p:txBody>
      </p:sp>
      <p:sp>
        <p:nvSpPr>
          <p:cNvPr id="8" name="">
            <a:extLst xmlns:a="http://schemas.openxmlformats.org/drawingml/2006/main">
              <a:ext uri="{FF2B5EF4-FFF2-40B4-BE49-F238E27FC236}">
                <a16:creationId xmlns:a16="http://schemas.microsoft.com/office/drawing/2014/main" id="{52BF9ED2-FCBF-4841-B142-2D71A25F7CFE}"/>
              </a:ext>
            </a:extLst>
          </p:cNvPr>
          <p:cNvSpPr>
            <a:spLocks xmlns:a="http://schemas.openxmlformats.org/drawingml/2006/main" noGrp="1"/>
          </p:cNvSpPr>
          <p:nvPr/>
        </p:nvSpPr>
        <p:spPr>
          <a:xfrm xmlns:a="http://schemas.openxmlformats.org/drawingml/2006/main">
            <a:off x="4000500" y="340042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A defined claim, qualified external data and a validated decision procedure.</a:t>
            </a:r>
          </a:p>
        </p:txBody>
      </p:sp>
      <p:sp>
        <p:nvSpPr>
          <p:cNvPr id="9" name="">
            <a:extLst xmlns:a="http://schemas.openxmlformats.org/drawingml/2006/main">
              <a:ext uri="{FF2B5EF4-FFF2-40B4-BE49-F238E27FC236}">
                <a16:creationId xmlns:a16="http://schemas.microsoft.com/office/drawing/2014/main" id="{1A411771-E4A2-4B83-A4D1-E29988002E3D}"/>
              </a:ext>
            </a:extLst>
          </p:cNvPr>
          <p:cNvSpPr>
            <a:spLocks xmlns:a="http://schemas.openxmlformats.org/drawingml/2006/main" noGrp="1"/>
          </p:cNvSpPr>
          <p:nvPr/>
        </p:nvSpPr>
        <p:spPr>
          <a:xfrm xmlns:a="http://schemas.openxmlformats.org/drawingml/2006/main">
            <a:off x="628650" y="45624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F68"/>
                </a:solidFill>
                <a:latin typeface="Helvetica Neue"/>
                <a:ea typeface="Helvetica Neue"/>
                <a:cs typeface="Helvetica Neue"/>
              </a:defRPr>
            </a:pPr>
            <a:r>
              <a:rPr sz="2100" b="1">
                <a:solidFill>
                  <a:srgbClr val="233F68"/>
                </a:solidFill>
                <a:latin typeface="Helvetica Neue"/>
                <a:ea typeface="Helvetica Neue"/>
                <a:cs typeface="Helvetica Neue"/>
              </a:rPr>
              <a:t>Question for the authors</a:t>
            </a:r>
          </a:p>
        </p:txBody>
      </p:sp>
      <p:sp>
        <p:nvSpPr>
          <p:cNvPr id="10" name="">
            <a:extLst xmlns:a="http://schemas.openxmlformats.org/drawingml/2006/main">
              <a:ext uri="{FF2B5EF4-FFF2-40B4-BE49-F238E27FC236}">
                <a16:creationId xmlns:a16="http://schemas.microsoft.com/office/drawing/2014/main" id="{34AFA57D-0FE4-4E82-AC05-01AB4A44C771}"/>
              </a:ext>
            </a:extLst>
          </p:cNvPr>
          <p:cNvSpPr>
            <a:spLocks xmlns:a="http://schemas.openxmlformats.org/drawingml/2006/main" noGrp="1"/>
          </p:cNvSpPr>
          <p:nvPr/>
        </p:nvSpPr>
        <p:spPr>
          <a:xfrm xmlns:a="http://schemas.openxmlformats.org/drawingml/2006/main">
            <a:off x="4000500" y="456247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What is the narrowest intended clinical use that the next study could establish?</a:t>
            </a:r>
          </a:p>
        </p:txBody>
      </p:sp>
    </p:spTree>
    <p:extLst>
      <p:ext uri="{BB962C8B-B14F-4D97-AF65-F5344CB8AC3E}">
        <p14:creationId xmlns:p14="http://schemas.microsoft.com/office/powerpoint/2010/main" val="627095535"/>
      </p:ext>
    </p:extLst>
  </p:cSld>
</p:sld>
</file>

<file path=ppt/slides/slide7.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18920C2-7A9F-4C3D-8CD2-1528F6F9767A}"/>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Backup: what the model and map mean</a:t>
            </a:r>
          </a:p>
        </p:txBody>
      </p:sp>
      <p:sp>
        <p:nvSpPr>
          <p:cNvPr id="2" name="">
            <a:extLst xmlns:a="http://schemas.openxmlformats.org/drawingml/2006/main">
              <a:ext uri="{FF2B5EF4-FFF2-40B4-BE49-F238E27FC236}">
                <a16:creationId xmlns:a16="http://schemas.microsoft.com/office/drawing/2014/main" id="{FB63443A-D13D-4D84-ACF2-5DACD476BF61}"/>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Trial-control mean f₁(x) = f(x) + g(x)</a:t>
            </a:r>
          </a:p>
        </p:txBody>
      </p:sp>
      <p:sp>
        <p:nvSpPr>
          <p:cNvPr id="3" name="">
            <a:extLst xmlns:a="http://schemas.openxmlformats.org/drawingml/2006/main">
              <a:ext uri="{FF2B5EF4-FFF2-40B4-BE49-F238E27FC236}">
                <a16:creationId xmlns:a16="http://schemas.microsoft.com/office/drawing/2014/main" id="{03BCF721-A9E4-4F9C-9EF6-512A6DEC46F0}"/>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Source: manuscript Section 2, including the revised page 5. Not part of the timed talk.</a:t>
            </a:r>
          </a:p>
        </p:txBody>
      </p:sp>
      <p:sp>
        <p:nvSpPr>
          <p:cNvPr id="4" name="">
            <a:extLst xmlns:a="http://schemas.openxmlformats.org/drawingml/2006/main">
              <a:ext uri="{FF2B5EF4-FFF2-40B4-BE49-F238E27FC236}">
                <a16:creationId xmlns:a16="http://schemas.microsoft.com/office/drawing/2014/main" id="{33CAB9B5-B007-41A8-AF0E-863F4B2DF23E}"/>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3F68"/>
                </a:solidFill>
                <a:latin typeface="Helvetica Neue"/>
                <a:ea typeface="Helvetica Neue"/>
                <a:cs typeface="Helvetica Neue"/>
              </a:defRPr>
            </a:pPr>
            <a:r>
              <a:rPr sz="1350" b="1">
                <a:solidFill>
                  <a:srgbClr val="233F68"/>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6349DFE1-98A5-432E-B486-FE16DA502FFE}"/>
              </a:ext>
            </a:extLst>
          </p:cNvPr>
          <p:cNvSpPr>
            <a:spLocks xmlns:a="http://schemas.openxmlformats.org/drawingml/2006/main" noGrp="1"/>
          </p:cNvSpPr>
          <p:nvPr/>
        </p:nvSpPr>
        <p:spPr>
          <a:xfrm xmlns:a="http://schemas.openxmlformats.org/drawingml/2006/main">
            <a:off x="628650" y="223837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F68"/>
                </a:solidFill>
                <a:latin typeface="Helvetica Neue"/>
                <a:ea typeface="Helvetica Neue"/>
                <a:cs typeface="Helvetica Neue"/>
              </a:defRPr>
            </a:pPr>
            <a:r>
              <a:rPr sz="2100" b="1">
                <a:solidFill>
                  <a:srgbClr val="233F68"/>
                </a:solidFill>
                <a:latin typeface="Helvetica Neue"/>
                <a:ea typeface="Helvetica Neue"/>
                <a:cs typeface="Helvetica Neue"/>
              </a:rPr>
              <a:t>Leaf mixture</a:t>
            </a:r>
          </a:p>
        </p:txBody>
      </p:sp>
      <p:sp>
        <p:nvSpPr>
          <p:cNvPr id="6" name="">
            <a:extLst xmlns:a="http://schemas.openxmlformats.org/drawingml/2006/main">
              <a:ext uri="{FF2B5EF4-FFF2-40B4-BE49-F238E27FC236}">
                <a16:creationId xmlns:a16="http://schemas.microsoft.com/office/drawing/2014/main" id="{3EF9D4FB-A55D-473D-BD5F-821E6B92A03E}"/>
              </a:ext>
            </a:extLst>
          </p:cNvPr>
          <p:cNvSpPr>
            <a:spLocks xmlns:a="http://schemas.openxmlformats.org/drawingml/2006/main" noGrp="1"/>
          </p:cNvSpPr>
          <p:nvPr/>
        </p:nvSpPr>
        <p:spPr>
          <a:xfrm xmlns:a="http://schemas.openxmlformats.org/drawingml/2006/main">
            <a:off x="4000500" y="223837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z = 1 selects the narrow component; z = 0 selects the wider component.</a:t>
            </a:r>
          </a:p>
        </p:txBody>
      </p:sp>
      <p:sp>
        <p:nvSpPr>
          <p:cNvPr id="7" name="">
            <a:extLst xmlns:a="http://schemas.openxmlformats.org/drawingml/2006/main">
              <a:ext uri="{FF2B5EF4-FFF2-40B4-BE49-F238E27FC236}">
                <a16:creationId xmlns:a16="http://schemas.microsoft.com/office/drawing/2014/main" id="{754980F0-FA0A-4325-9284-5A818F6C61C1}"/>
              </a:ext>
            </a:extLst>
          </p:cNvPr>
          <p:cNvSpPr>
            <a:spLocks xmlns:a="http://schemas.openxmlformats.org/drawingml/2006/main" noGrp="1"/>
          </p:cNvSpPr>
          <p:nvPr/>
        </p:nvSpPr>
        <p:spPr>
          <a:xfrm xmlns:a="http://schemas.openxmlformats.org/drawingml/2006/main">
            <a:off x="628650" y="3390900"/>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F68"/>
                </a:solidFill>
                <a:latin typeface="Helvetica Neue"/>
                <a:ea typeface="Helvetica Neue"/>
                <a:cs typeface="Helvetica Neue"/>
              </a:defRPr>
            </a:pPr>
            <a:r>
              <a:rPr sz="2100" b="1">
                <a:solidFill>
                  <a:srgbClr val="233F68"/>
                </a:solidFill>
                <a:latin typeface="Helvetica Neue"/>
                <a:ea typeface="Helvetica Neue"/>
                <a:cs typeface="Helvetica Neue"/>
              </a:rPr>
              <a:t>Induced distribution</a:t>
            </a:r>
          </a:p>
        </p:txBody>
      </p:sp>
      <p:sp>
        <p:nvSpPr>
          <p:cNvPr id="8" name="">
            <a:extLst xmlns:a="http://schemas.openxmlformats.org/drawingml/2006/main">
              <a:ext uri="{FF2B5EF4-FFF2-40B4-BE49-F238E27FC236}">
                <a16:creationId xmlns:a16="http://schemas.microsoft.com/office/drawing/2014/main" id="{1F80FA83-1696-4D55-8ADC-35998CAD8ACC}"/>
              </a:ext>
            </a:extLst>
          </p:cNvPr>
          <p:cNvSpPr>
            <a:spLocks xmlns:a="http://schemas.openxmlformats.org/drawingml/2006/main" noGrp="1"/>
          </p:cNvSpPr>
          <p:nvPr/>
        </p:nvSpPr>
        <p:spPr>
          <a:xfrm xmlns:a="http://schemas.openxmlformats.org/drawingml/2006/main">
            <a:off x="4000500" y="3390900"/>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The mean f₁ is centered at f, with uncertainty contributed by every discrepancy tree.</a:t>
            </a:r>
          </a:p>
        </p:txBody>
      </p:sp>
      <p:sp>
        <p:nvSpPr>
          <p:cNvPr id="9" name="">
            <a:extLst xmlns:a="http://schemas.openxmlformats.org/drawingml/2006/main">
              <a:ext uri="{FF2B5EF4-FFF2-40B4-BE49-F238E27FC236}">
                <a16:creationId xmlns:a16="http://schemas.microsoft.com/office/drawing/2014/main" id="{AC65A354-6458-44BD-84B4-A3877EEF0FEA}"/>
              </a:ext>
            </a:extLst>
          </p:cNvPr>
          <p:cNvSpPr>
            <a:spLocks xmlns:a="http://schemas.openxmlformats.org/drawingml/2006/main" noGrp="1"/>
          </p:cNvSpPr>
          <p:nvPr/>
        </p:nvSpPr>
        <p:spPr>
          <a:xfrm xmlns:a="http://schemas.openxmlformats.org/drawingml/2006/main">
            <a:off x="628650" y="4543425"/>
            <a:ext cx="309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3F68"/>
                </a:solidFill>
                <a:latin typeface="Helvetica Neue"/>
                <a:ea typeface="Helvetica Neue"/>
                <a:cs typeface="Helvetica Neue"/>
              </a:defRPr>
            </a:pPr>
            <a:r>
              <a:rPr sz="2100" b="1">
                <a:solidFill>
                  <a:srgbClr val="233F68"/>
                </a:solidFill>
                <a:latin typeface="Helvetica Neue"/>
                <a:ea typeface="Helvetica Neue"/>
                <a:cs typeface="Helvetica Neue"/>
              </a:rPr>
              <a:t>Compatibility map</a:t>
            </a:r>
          </a:p>
        </p:txBody>
      </p:sp>
      <p:sp>
        <p:nvSpPr>
          <p:cNvPr id="10" name="">
            <a:extLst xmlns:a="http://schemas.openxmlformats.org/drawingml/2006/main">
              <a:ext uri="{FF2B5EF4-FFF2-40B4-BE49-F238E27FC236}">
                <a16:creationId xmlns:a16="http://schemas.microsoft.com/office/drawing/2014/main" id="{D80211DE-D233-40D3-BCCF-BC20A5CF2E8D}"/>
              </a:ext>
            </a:extLst>
          </p:cNvPr>
          <p:cNvSpPr>
            <a:spLocks xmlns:a="http://schemas.openxmlformats.org/drawingml/2006/main" noGrp="1"/>
          </p:cNvSpPr>
          <p:nvPr/>
        </p:nvSpPr>
        <p:spPr>
          <a:xfrm xmlns:a="http://schemas.openxmlformats.org/drawingml/2006/main">
            <a:off x="4000500" y="4543425"/>
            <a:ext cx="7467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B꜀(x) = Pr{|g(x)| &lt; c given data}; c expresses clinical tolerance.</a:t>
            </a:r>
          </a:p>
        </p:txBody>
      </p:sp>
    </p:spTree>
    <p:extLst>
      <p:ext uri="{BB962C8B-B14F-4D97-AF65-F5344CB8AC3E}">
        <p14:creationId xmlns:p14="http://schemas.microsoft.com/office/powerpoint/2010/main" val="43423487"/>
      </p:ext>
    </p:extLst>
  </p:cSld>
</p:sld>
</file>

<file path=ppt/slides/slide8.xml><?xml version="1.0" encoding="utf-8"?>
<p:sld xmlns:p="http://schemas.openxmlformats.org/presentationml/2006/main">
  <p:cSld>
    <p:bg>
      <p:bgPr>
        <a:solidFill xmlns:a="http://schemas.openxmlformats.org/drawingml/2006/main">
          <a:srgbClr val="FAFB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54F8C5-3627-4E4F-9645-CA85BB8EC6C9}"/>
              </a:ext>
            </a:extLst>
          </p:cNvPr>
          <p:cNvSpPr>
            <a:spLocks xmlns:a="http://schemas.openxmlformats.org/drawingml/2006/main" noGrp="1"/>
          </p:cNvSpPr>
          <p:nvPr/>
        </p:nvSpPr>
        <p:spPr>
          <a:xfrm xmlns:a="http://schemas.openxmlformats.org/drawingml/2006/main">
            <a:off x="609600" y="43815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F3C"/>
                </a:solidFill>
                <a:latin typeface="Helvetica Neue"/>
                <a:ea typeface="Helvetica Neue"/>
                <a:cs typeface="Helvetica Neue"/>
              </a:defRPr>
            </a:pPr>
            <a:r>
              <a:rPr sz="3450" b="1">
                <a:solidFill>
                  <a:srgbClr val="172F3C"/>
                </a:solidFill>
                <a:latin typeface="Helvetica Neue"/>
                <a:ea typeface="Helvetica Neue"/>
                <a:cs typeface="Helvetica Neue"/>
              </a:rPr>
              <a:t>Backup: regulatory sources and status</a:t>
            </a:r>
          </a:p>
        </p:txBody>
      </p:sp>
      <p:sp>
        <p:nvSpPr>
          <p:cNvPr id="2" name="">
            <a:extLst xmlns:a="http://schemas.openxmlformats.org/drawingml/2006/main">
              <a:ext uri="{FF2B5EF4-FFF2-40B4-BE49-F238E27FC236}">
                <a16:creationId xmlns:a16="http://schemas.microsoft.com/office/drawing/2014/main" id="{906E7FDC-E1D5-4E6C-B894-287E6354DB23}"/>
              </a:ext>
            </a:extLst>
          </p:cNvPr>
          <p:cNvSpPr>
            <a:spLocks xmlns:a="http://schemas.openxmlformats.org/drawingml/2006/main" noGrp="1"/>
          </p:cNvSpPr>
          <p:nvPr/>
        </p:nvSpPr>
        <p:spPr>
          <a:xfrm xmlns:a="http://schemas.openxmlformats.org/drawingml/2006/main">
            <a:off x="628650" y="1495425"/>
            <a:ext cx="10934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70"/>
                </a:solidFill>
                <a:latin typeface="Helvetica Neue"/>
                <a:ea typeface="Helvetica Neue"/>
                <a:cs typeface="Helvetica Neue"/>
              </a:defRPr>
            </a:pPr>
            <a:r>
              <a:rPr sz="1800" b="0">
                <a:solidFill>
                  <a:srgbClr val="536670"/>
                </a:solidFill>
                <a:latin typeface="Helvetica Neue"/>
                <a:ea typeface="Helvetica Neue"/>
                <a:cs typeface="Helvetica Neue"/>
              </a:rPr>
              <a:t>Status checked 11 September 2026. Draft recommendations are nonbinding.</a:t>
            </a:r>
          </a:p>
        </p:txBody>
      </p:sp>
      <p:sp>
        <p:nvSpPr>
          <p:cNvPr id="3" name="">
            <a:extLst xmlns:a="http://schemas.openxmlformats.org/drawingml/2006/main">
              <a:ext uri="{FF2B5EF4-FFF2-40B4-BE49-F238E27FC236}">
                <a16:creationId xmlns:a16="http://schemas.microsoft.com/office/drawing/2014/main" id="{1D2CC829-DB2D-4CEB-9252-FEF1E618E3A1}"/>
              </a:ext>
            </a:extLst>
          </p:cNvPr>
          <p:cNvSpPr>
            <a:spLocks xmlns:a="http://schemas.openxmlformats.org/drawingml/2006/main" noGrp="1"/>
          </p:cNvSpPr>
          <p:nvPr/>
        </p:nvSpPr>
        <p:spPr>
          <a:xfrm xmlns:a="http://schemas.openxmlformats.org/drawingml/2006/main">
            <a:off x="628650" y="62388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70"/>
                </a:solidFill>
                <a:latin typeface="Helvetica Neue"/>
                <a:ea typeface="Helvetica Neue"/>
                <a:cs typeface="Helvetica Neue"/>
              </a:defRPr>
            </a:pPr>
            <a:r>
              <a:rPr sz="1200" b="0">
                <a:solidFill>
                  <a:srgbClr val="536670"/>
                </a:solidFill>
                <a:latin typeface="Helvetica Neue"/>
                <a:ea typeface="Helvetica Neue"/>
                <a:cs typeface="Helvetica Neue"/>
              </a:rPr>
              <a:t>Full URLs and the manuscript source are included in speaker notes.</a:t>
            </a:r>
          </a:p>
        </p:txBody>
      </p:sp>
      <p:sp>
        <p:nvSpPr>
          <p:cNvPr id="4" name="">
            <a:extLst xmlns:a="http://schemas.openxmlformats.org/drawingml/2006/main">
              <a:ext uri="{FF2B5EF4-FFF2-40B4-BE49-F238E27FC236}">
                <a16:creationId xmlns:a16="http://schemas.microsoft.com/office/drawing/2014/main" id="{6D5197E0-75FB-4838-B348-1C7D746F47D0}"/>
              </a:ext>
            </a:extLst>
          </p:cNvPr>
          <p:cNvSpPr>
            <a:spLocks xmlns:a="http://schemas.openxmlformats.org/drawingml/2006/main" noGrp="1"/>
          </p:cNvSpPr>
          <p:nvPr/>
        </p:nvSpPr>
        <p:spPr>
          <a:xfrm xmlns:a="http://schemas.openxmlformats.org/drawingml/2006/main">
            <a:off x="11049000" y="6238875"/>
            <a:ext cx="4953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33F68"/>
                </a:solidFill>
                <a:latin typeface="Helvetica Neue"/>
                <a:ea typeface="Helvetica Neue"/>
                <a:cs typeface="Helvetica Neue"/>
              </a:defRPr>
            </a:pPr>
            <a:r>
              <a:rPr sz="1350" b="1">
                <a:solidFill>
                  <a:srgbClr val="233F68"/>
                </a:solidFill>
                <a:latin typeface="Helvetica Neue"/>
                <a:ea typeface="Helvetica Neue"/>
                <a:cs typeface="Helvetica Neue"/>
              </a:rPr>
              <a:t>08</a:t>
            </a:r>
          </a:p>
        </p:txBody>
      </p:sp>
      <p:graphicFrame>
        <p:nvGraphicFramePr>
          <p:cNvPr id="11" name=""/>
          <p:cNvGraphicFramePr/>
          <p:nvPr/>
        </p:nvGraphicFramePr>
        <p:xfrm>
          <a:off xmlns:a="http://schemas.openxmlformats.org/drawingml/2006/main" x="628650" y="2209800"/>
          <a:ext xmlns:a="http://schemas.openxmlformats.org/drawingml/2006/main" cx="10934700" cy="2933700"/>
        </p:xfrm>
        <a:graphic xmlns:a="http://schemas.openxmlformats.org/drawingml/2006/main">
          <a:graphicData uri="http://schemas.openxmlformats.org/drawingml/2006/table">
            <a:tbl>
              <a:tblPr/>
              <a:tblGrid>
                <a:gridCol w="5819775"/>
                <a:gridCol w="2590800"/>
                <a:gridCol w="2524125"/>
              </a:tblGrid>
              <a:tr h="733425">
                <a:tc>
                  <a:txBody>
                    <a:bodyPr/>
                    <a:lstStyle/>
                    <a:p>
                      <a:r>
                        <a:rPr sz="1800" b="1">
                          <a:solidFill>
                            <a:srgbClr val="FFFFFF"/>
                          </a:solidFill>
                          <a:latin typeface="Helvetica Neue"/>
                          <a:ea typeface="Helvetica Neue"/>
                          <a:cs typeface="Helvetica Neue"/>
                        </a:rPr>
                        <a:t>Source</a:t>
                      </a:r>
                    </a:p>
                  </a:txBody>
                  <a:tcPr marL="152400" marR="114300" marT="114300" marB="114300" anchor="ctr">
                    <a:solidFill>
                      <a:srgbClr val="233F68"/>
                    </a:solidFill>
                  </a:tcPr>
                </a:tc>
                <a:tc>
                  <a:txBody>
                    <a:bodyPr/>
                    <a:lstStyle/>
                    <a:p>
                      <a:r>
                        <a:rPr sz="1800" b="1">
                          <a:solidFill>
                            <a:srgbClr val="FFFFFF"/>
                          </a:solidFill>
                          <a:latin typeface="Helvetica Neue"/>
                          <a:ea typeface="Helvetica Neue"/>
                          <a:cs typeface="Helvetica Neue"/>
                        </a:rPr>
                        <a:t>Status</a:t>
                      </a:r>
                    </a:p>
                  </a:txBody>
                  <a:tcPr marL="152400" marR="114300" marT="114300" marB="114300" anchor="ctr">
                    <a:solidFill>
                      <a:srgbClr val="233F68"/>
                    </a:solidFill>
                  </a:tcPr>
                </a:tc>
                <a:tc>
                  <a:txBody>
                    <a:bodyPr/>
                    <a:lstStyle/>
                    <a:p>
                      <a:r>
                        <a:rPr sz="1800" b="1">
                          <a:solidFill>
                            <a:srgbClr val="FFFFFF"/>
                          </a:solidFill>
                          <a:latin typeface="Helvetica Neue"/>
                          <a:ea typeface="Helvetica Neue"/>
                          <a:cs typeface="Helvetica Neue"/>
                        </a:rPr>
                        <a:t>Sections used</a:t>
                      </a:r>
                    </a:p>
                  </a:txBody>
                  <a:tcPr marL="152400" marR="114300" marT="114300" marB="114300" anchor="ctr">
                    <a:solidFill>
                      <a:srgbClr val="233F68"/>
                    </a:solidFill>
                  </a:tcPr>
                </a:tc>
              </a:tr>
              <a:tr h="733425">
                <a:tc>
                  <a:txBody>
                    <a:bodyPr/>
                    <a:lstStyle/>
                    <a:p>
                      <a:r>
                        <a:rPr sz="1800" b="1">
                          <a:solidFill>
                            <a:srgbClr val="172F3C"/>
                          </a:solidFill>
                          <a:latin typeface="Helvetica Neue"/>
                          <a:ea typeface="Helvetica Neue"/>
                          <a:cs typeface="Helvetica Neue"/>
                        </a:rPr>
                        <a:t>FDA: Bayesian methodology in drug trials</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Draft, Jan 2026</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IV.B.1–2; V.A</a:t>
                      </a:r>
                    </a:p>
                  </a:txBody>
                  <a:tcPr marL="152400" marR="114300" marT="114300" marB="114300" anchor="ctr">
                    <a:solidFill>
                      <a:srgbClr val="FFFFFF"/>
                    </a:solidFill>
                  </a:tcPr>
                </a:tc>
              </a:tr>
              <a:tr h="733425">
                <a:tc>
                  <a:txBody>
                    <a:bodyPr/>
                    <a:lstStyle/>
                    <a:p>
                      <a:r>
                        <a:rPr sz="1800" b="1">
                          <a:solidFill>
                            <a:srgbClr val="172F3C"/>
                          </a:solidFill>
                          <a:latin typeface="Helvetica Neue"/>
                          <a:ea typeface="Helvetica Neue"/>
                          <a:cs typeface="Helvetica Neue"/>
                        </a:rPr>
                        <a:t>FDA: externally controlled drug trials</a:t>
                      </a:r>
                    </a:p>
                  </a:txBody>
                  <a:tcPr marL="152400" marR="114300" marT="114300" marB="114300" anchor="ctr">
                    <a:solidFill>
                      <a:srgbClr val="E9EFEE"/>
                    </a:solidFill>
                  </a:tcPr>
                </a:tc>
                <a:tc>
                  <a:txBody>
                    <a:bodyPr/>
                    <a:lstStyle/>
                    <a:p>
                      <a:r>
                        <a:rPr sz="1800" b="0">
                          <a:solidFill>
                            <a:srgbClr val="172F3C"/>
                          </a:solidFill>
                          <a:latin typeface="Helvetica Neue"/>
                          <a:ea typeface="Helvetica Neue"/>
                          <a:cs typeface="Helvetica Neue"/>
                        </a:rPr>
                        <a:t>Draft, Feb 2023</a:t>
                      </a:r>
                    </a:p>
                  </a:txBody>
                  <a:tcPr marL="152400" marR="114300" marT="114300" marB="114300" anchor="ctr">
                    <a:solidFill>
                      <a:srgbClr val="E9EFEE"/>
                    </a:solidFill>
                  </a:tcPr>
                </a:tc>
                <a:tc>
                  <a:txBody>
                    <a:bodyPr/>
                    <a:lstStyle/>
                    <a:p>
                      <a:r>
                        <a:rPr sz="1800" b="0">
                          <a:solidFill>
                            <a:srgbClr val="172F3C"/>
                          </a:solidFill>
                          <a:latin typeface="Helvetica Neue"/>
                          <a:ea typeface="Helvetica Neue"/>
                          <a:cs typeface="Helvetica Neue"/>
                        </a:rPr>
                        <a:t>III.A.4–5; III.B.3</a:t>
                      </a:r>
                    </a:p>
                  </a:txBody>
                  <a:tcPr marL="152400" marR="114300" marT="114300" marB="114300" anchor="ctr">
                    <a:solidFill>
                      <a:srgbClr val="E9EFEE"/>
                    </a:solidFill>
                  </a:tcPr>
                </a:tc>
              </a:tr>
              <a:tr h="733425">
                <a:tc>
                  <a:txBody>
                    <a:bodyPr/>
                    <a:lstStyle/>
                    <a:p>
                      <a:r>
                        <a:rPr sz="1800" b="1">
                          <a:solidFill>
                            <a:srgbClr val="172F3C"/>
                          </a:solidFill>
                          <a:latin typeface="Helvetica Neue"/>
                          <a:ea typeface="Helvetica Neue"/>
                          <a:cs typeface="Helvetica Neue"/>
                        </a:rPr>
                        <a:t>ICH E9(R1): estimands and sensitivity</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Final, May 2021</a:t>
                      </a:r>
                    </a:p>
                  </a:txBody>
                  <a:tcPr marL="152400" marR="114300" marT="114300" marB="114300" anchor="ctr">
                    <a:solidFill>
                      <a:srgbClr val="FFFFFF"/>
                    </a:solidFill>
                  </a:tcPr>
                </a:tc>
                <a:tc>
                  <a:txBody>
                    <a:bodyPr/>
                    <a:lstStyle/>
                    <a:p>
                      <a:r>
                        <a:rPr sz="1800" b="0">
                          <a:solidFill>
                            <a:srgbClr val="172F3C"/>
                          </a:solidFill>
                          <a:latin typeface="Helvetica Neue"/>
                          <a:ea typeface="Helvetica Neue"/>
                          <a:cs typeface="Helvetica Neue"/>
                        </a:rPr>
                        <a:t>A.3–A.5</a:t>
                      </a:r>
                    </a:p>
                  </a:txBody>
                  <a:tcPr marL="152400" marR="114300" marT="114300" marB="1143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5A162DA-9E12-4886-8D0A-E4C43227D26F}"/>
              </a:ext>
            </a:extLst>
          </p:cNvPr>
          <p:cNvSpPr>
            <a:spLocks xmlns:a="http://schemas.openxmlformats.org/drawingml/2006/main" noGrp="1"/>
          </p:cNvSpPr>
          <p:nvPr/>
        </p:nvSpPr>
        <p:spPr>
          <a:xfrm xmlns:a="http://schemas.openxmlformats.org/drawingml/2006/main">
            <a:off x="628650" y="5534025"/>
            <a:ext cx="109347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F3C"/>
                </a:solidFill>
                <a:latin typeface="Helvetica Neue"/>
                <a:ea typeface="Helvetica Neue"/>
                <a:cs typeface="Helvetica Neue"/>
              </a:defRPr>
            </a:pPr>
            <a:r>
              <a:rPr sz="2100" b="0">
                <a:solidFill>
                  <a:srgbClr val="172F3C"/>
                </a:solidFill>
                <a:latin typeface="Helvetica Neue"/>
                <a:ea typeface="Helvetica Neue"/>
                <a:cs typeface="Helvetica Neue"/>
              </a:rPr>
              <a:t>The critique applies these sources to the paper as a hypothetical discussion.</a:t>
            </a:r>
          </a:p>
        </p:txBody>
      </p:sp>
    </p:spTree>
    <p:extLst>
      <p:ext uri="{BB962C8B-B14F-4D97-AF65-F5344CB8AC3E}">
        <p14:creationId xmlns:p14="http://schemas.microsoft.com/office/powerpoint/2010/main" val="8497693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2026-09-11T07:00:24.6430000Z</dcterms:created>
  <dcterms:modified xsi:type="dcterms:W3CDTF">2026-09-11T07:00:24.6430000Z</dcterms:modified>
</coreProperties>
</file>