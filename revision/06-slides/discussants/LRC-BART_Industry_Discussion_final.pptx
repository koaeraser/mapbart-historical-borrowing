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3175779b5c4a50" /><Relationship Type="http://schemas.openxmlformats.org/officeDocument/2006/relationships/extended-properties" Target="/docProps/app.xml" Id="R3d9fcb2a1f954e6e" /><Relationship Type="http://schemas.openxmlformats.org/officeDocument/2006/relationships/officeDocument" Target="/ppt/presentation.xml" Id="Ref04652d99fc409b" /></Relationships>
</file>

<file path=ppt/presentation.xml><?xml version="1.0" encoding="utf-8"?>
<p:presentation xmlns:p="http://schemas.openxmlformats.org/presentationml/2006/main">
  <p:sldMasterIdLst>
    <p:sldMasterId xmlns:r="http://schemas.openxmlformats.org/officeDocument/2006/relationships" id="2147483648" r:id="Rf39e4fd488c24800"/>
  </p:sldMasterIdLst>
  <p:notesMasterIdLst>
    <p:notesMasterId xmlns:r="http://schemas.openxmlformats.org/officeDocument/2006/relationships" r:id="Rfe7fdc58205a48a0"/>
  </p:notesMasterIdLst>
  <p:sldIdLst>
    <p:sldId xmlns:r="http://schemas.openxmlformats.org/officeDocument/2006/relationships" id="256" r:id="Rd644de4afa3b4be8"/>
    <p:sldId xmlns:r="http://schemas.openxmlformats.org/officeDocument/2006/relationships" id="257" r:id="Rdff4b15024f0421e"/>
    <p:sldId xmlns:r="http://schemas.openxmlformats.org/officeDocument/2006/relationships" id="258" r:id="Rad0606b020ac43a8"/>
    <p:sldId xmlns:r="http://schemas.openxmlformats.org/officeDocument/2006/relationships" id="259" r:id="Rf0c65c31e8444414"/>
    <p:sldId xmlns:r="http://schemas.openxmlformats.org/officeDocument/2006/relationships" id="260" r:id="Rcb3ad66f4614449d"/>
    <p:sldId xmlns:r="http://schemas.openxmlformats.org/officeDocument/2006/relationships" id="261" r:id="R507a919fe8844170"/>
    <p:sldId xmlns:r="http://schemas.openxmlformats.org/officeDocument/2006/relationships" id="262" r:id="Rf38f4da4e8294cf4"/>
    <p:sldId xmlns:r="http://schemas.openxmlformats.org/officeDocument/2006/relationships" id="263" r:id="Ra3ff543b8e1746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fed574c912487c" /><Relationship Type="http://schemas.openxmlformats.org/officeDocument/2006/relationships/slideMaster" Target="/ppt/slideMasters/slideMaster1.xml" Id="Rf39e4fd488c24800" /><Relationship Type="http://schemas.openxmlformats.org/officeDocument/2006/relationships/notesMaster" Target="/ppt/notesMasters/notesMaster1.xml" Id="Rfe7fdc58205a48a0" /><Relationship Type="http://schemas.openxmlformats.org/officeDocument/2006/relationships/presProps" Target="/ppt/presProps.xml" Id="Rd25657cfeb9e462c" /><Relationship Type="http://schemas.openxmlformats.org/officeDocument/2006/relationships/tableStyles" Target="/ppt/tableStyles.xml" Id="R3e8d119eeff94680" /><Relationship Type="http://schemas.openxmlformats.org/officeDocument/2006/relationships/slide" Target="/ppt/slides/slide1.xml" Id="Rd644de4afa3b4be8" /><Relationship Type="http://schemas.openxmlformats.org/officeDocument/2006/relationships/slide" Target="/ppt/slides/slide2.xml" Id="Rdff4b15024f0421e" /><Relationship Type="http://schemas.openxmlformats.org/officeDocument/2006/relationships/slide" Target="/ppt/slides/slide3.xml" Id="Rad0606b020ac43a8" /><Relationship Type="http://schemas.openxmlformats.org/officeDocument/2006/relationships/slide" Target="/ppt/slides/slide4.xml" Id="Rf0c65c31e8444414" /><Relationship Type="http://schemas.openxmlformats.org/officeDocument/2006/relationships/slide" Target="/ppt/slides/slide5.xml" Id="Rcb3ad66f4614449d" /><Relationship Type="http://schemas.openxmlformats.org/officeDocument/2006/relationships/slide" Target="/ppt/slides/slide6.xml" Id="R507a919fe8844170" /><Relationship Type="http://schemas.openxmlformats.org/officeDocument/2006/relationships/slide" Target="/ppt/slides/slide7.xml" Id="Rf38f4da4e8294cf4" /><Relationship Type="http://schemas.openxmlformats.org/officeDocument/2006/relationships/slide" Target="/ppt/slides/slide8.xml" Id="Ra3ff543b8e1746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0e080ddac24d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3cfc1294494c66" /><Relationship Type="http://schemas.openxmlformats.org/officeDocument/2006/relationships/notesMaster" Target="/ppt/notesMasters/notesMaster1.xml" Id="R78d96f01309f4a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6b2639d7d44745" /><Relationship Type="http://schemas.openxmlformats.org/officeDocument/2006/relationships/notesMaster" Target="/ppt/notesMasters/notesMaster1.xml" Id="R158ee843934c4c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852c0c09454c5b" /><Relationship Type="http://schemas.openxmlformats.org/officeDocument/2006/relationships/notesMaster" Target="/ppt/notesMasters/notesMaster1.xml" Id="Rfd822c33e08c49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fab96ee00543a8" /><Relationship Type="http://schemas.openxmlformats.org/officeDocument/2006/relationships/notesMaster" Target="/ppt/notesMasters/notesMaster1.xml" Id="R9d513d38f36a48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cc108a42b84248" /><Relationship Type="http://schemas.openxmlformats.org/officeDocument/2006/relationships/notesMaster" Target="/ppt/notesMasters/notesMaster1.xml" Id="R56c751b92ded43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0779684b2e41b3" /><Relationship Type="http://schemas.openxmlformats.org/officeDocument/2006/relationships/notesMaster" Target="/ppt/notesMasters/notesMaster1.xml" Id="Rd439d70fcd134f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4c810e2a7f4600" /><Relationship Type="http://schemas.openxmlformats.org/officeDocument/2006/relationships/notesMaster" Target="/ppt/notesMasters/notesMaster1.xml" Id="R0a9c0edf8fd348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895098ac1140f1" /><Relationship Type="http://schemas.openxmlformats.org/officeDocument/2006/relationships/notesMaster" Target="/ppt/notesMasters/notesMaster1.xml" Id="R5843605615884b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1 of 6 • approximately 50 seconds</a:t>
            </a:r>
          </a:p>
          <a:p xmlns:a="http://schemas.openxmlformats.org/drawingml/2006/main">
            <a:r>
              <a:t/>
            </a:r>
          </a:p>
          <a:p xmlns:a="http://schemas.openxmlformats.org/drawingml/2006/main">
            <a:r>
              <a:t>I see a useful development tool in this paper. It puts a local discrepancy between trial and external controls into the model, and gives us interpretable summaries of compatibility and prior precision. That is more useful to a sponsor than a single borrowing weight when patient populations differ. My recommendation is to fund a prospective pilot in a randomized hybrid trial. Before changing enrollment, however, I would want to know whether the method preserves the reliability of the development decision when compatibility is only partial. The regional results are especially important for that judgment.</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2 of 6 • approximately 60 seconds</a:t>
            </a:r>
          </a:p>
          <a:p xmlns:a="http://schemas.openxmlformats.org/drawingml/2006/main">
            <a:r>
              <a:t/>
            </a:r>
          </a:p>
          <a:p xmlns:a="http://schemas.openxmlformats.org/drawingml/2006/main">
            <a:r>
              <a:t>The agreement scenario gives a clear reason to consider borrowing. LRC-BART has an RMSE of 0.172 versus 0.205 for BART with a source indicator, a reduction of about 16 percent. Its interval coverage is 94 percent. Complete pooling performs even better when agreement is true, which is exactly the setting in which it should do well. The benefit of LRC-BART therefore has to be judged across both agreement and conflict. I would not convert the RMSE reduction into a percentage reduction in controls. That conversion needs the full design, including the treatment effect, allocation, success threshold, and safety information requirements.</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3, Gaussian Sc1; tab_gauss.tex. RCT N=300 with 2:1 allocation, external N=300, ten covariates, treatment effect 1. LRC-BART target=100. CP=complete pooling; NP=trial controls only; PP=BART with source indicator; C-BART=spike-only discrepancy. Derived percentage: 100×(1−0.172/0.205)=16.10%.</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3 of 6 • approximately 65 seconds</a:t>
            </a:r>
          </a:p>
          <a:p xmlns:a="http://schemas.openxmlformats.org/drawingml/2006/main">
            <a:r>
              <a:t/>
            </a:r>
          </a:p>
          <a:p xmlns:a="http://schemas.openxmlformats.org/drawingml/2006/main">
            <a:r>
              <a:t>The regional example is the result I would discuss most carefully with a project team. With a shift of two outcome units, the borrowing map separates compatible and incompatible regions, yet LRC-BART has worse control-surface RMSE than source-indicator BART on both sides. Its nearly zero average treatment-effect bias comes from cancellation. A sponsor whose enrolled population later changes could lose that cancellation. The harder warning is the moderate shift of one unit, about two thirds of a residual standard deviation: coverage falls to 89 percent. I would want independent stress tests near that detection boundary, with changing subgroup prevalence, before relying on a local map to guide a design.</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3 regional shifts: table shows Sc4 δ₂=2, with 95% ATE coverage 0.92. Moderate δ₂=1 gives bias −0.041, coverage 0.89. Population-change concern is discussant inference, not a reported simulation result.</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4 of 6 • approximately 65 seconds</a:t>
            </a:r>
          </a:p>
          <a:p xmlns:a="http://schemas.openxmlformats.org/drawingml/2006/main">
            <a:r>
              <a:t/>
            </a:r>
          </a:p>
          <a:p xmlns:a="http://schemas.openxmlformats.org/drawingml/2006/main">
            <a:r>
              <a:t>ESS is valuable because it connects a prior specification to a familiar scale. But the paper is careful about what that scale means. A requested target of 100 produces a mean prior ESS of 82 and a mean realized ESS of 53. The realized quantity evaluates a prior-variance expression at learned model states; it is not the observed reduction in treatment-effect variance. Even the ceiling varies across simulated datasets, and the target is capped in 20 percent of Sc1 replicates. Under poor overlap the mean ceiling drops to 23. This tells me to assess the external cohort at the intended trial profiles before assigning financial value to its size.</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The summaries are variance-based working precision measures, not exact marginal ELIR for the BART mixture. Sc2 caps every absolute target in every replicate. Reported values are replicate means except the requested target.</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5 of 6 • approximately 65 seconds</a:t>
            </a:r>
          </a:p>
          <a:p xmlns:a="http://schemas.openxmlformats.org/drawingml/2006/main">
            <a:r>
              <a:t/>
            </a:r>
          </a:p>
          <a:p xmlns:a="http://schemas.openxmlformats.org/drawingml/2006/main">
            <a:r>
              <a:t>My first investment would be a prospective pilot with a concurrent randomized control arm. Those controls provide the evidence needed to learn a trial-versus-external discrepancy. I would freeze the external cohort rules and endpoint definitions, and write down exactly how the borrowing map can affect interpretation. Any map-driven decision would be part of the simulation, rather than an informal action after seeing results. The comparator should include a credible trial-only design. Then we can estimate whether the external data actually reduce enrollment or elapsed time while preserving the chosen decision properties. Data acquisition, harmonization, and review costs also belong in that investment decision. These are proposed next steps, not outcomes demonstrated by this manuscript.</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6 of 6 • approximately 60 seconds</a:t>
            </a:r>
          </a:p>
          <a:p xmlns:a="http://schemas.openxmlformats.org/drawingml/2006/main">
            <a:r>
              <a:t/>
            </a:r>
          </a:p>
          <a:p xmlns:a="http://schemas.openxmlformats.org/drawingml/2006/main">
            <a:r>
              <a:t>My first question is whether the gain holds in independent validation after freezing the discrepancy-tree specification. The development run overlaps the first 200 replicates of the reported study, so that next validation is particularly valuable. Second, how much concurrent-control information is needed for clinically relevant local conflict, especially with censoring? Third, how sensitive are decisions to the difference between the untruncated calibration distribution and the truncated fitting prior, and to the ceiling override? The authors already acknowledge these limitations. I support a pilot, and would use its results to decide whether the method can carry a primary analysis.</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3 methods describes development overlap; Sections 2.4–2.5 describe calibration and truncation; Discussion describes conditional theoretical guarantees and need for decision operating characteristics.</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 use only if asked</a:t>
            </a:r>
          </a:p>
          <a:p xmlns:a="http://schemas.openxmlformats.org/drawingml/2006/main">
            <a:r>
              <a:t/>
            </a:r>
          </a:p>
          <a:p xmlns:a="http://schemas.openxmlformats.org/drawingml/2006/main">
            <a:r>
              <a:t>This is a descriptive model-based comparison standardized to the recorded trial profiles. Ratios greater than one favor EloKRd in survival duration, but the application does not identify a total causal regimen effect. Post-induction transplantation is included in adjustment, and equal residual variances are assumed for calibration and counterfactual survival prediction. With no concurrent controls, the likelihood cannot learn the discrepancy. Under the default w=1 prior, the compatibility probability is constant across profiles. Thus neither the large registry count nor the local prior ESS validates transportability.</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4. Primary target=30. RMST=restricted mean survival time. ASCT=autologous stem cell transplantation.</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reference slide</a:t>
            </a:r>
          </a:p>
          <a:p xmlns:a="http://schemas.openxmlformats.org/drawingml/2006/main">
            <a:r>
              <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Source files: sections_3_5.tex, tables/tab_gauss.tex, tables/tab_app.tex, web_appendix_G.tex. Repository PR is a lineage pointer. These slides do not claim that all simulations have been independently replicated.</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9a3ab0e0da43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b6aae3268d4ed9" /><Relationship Type="http://schemas.openxmlformats.org/officeDocument/2006/relationships/slideLayout" Target="/ppt/slideLayouts/slideLayout1.xml" Id="Re941bfb31b724c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41bfb31b724c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a10c0e67fa4929" /><Relationship Type="http://schemas.openxmlformats.org/officeDocument/2006/relationships/notesSlide" Target="/ppt/notesSlides/notesSlide1.xml" Id="Rbc3e4ae9959c41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e2c0b3f9184177" /><Relationship Type="http://schemas.openxmlformats.org/officeDocument/2006/relationships/chart" Target="/ppt/slides/charts/chart1.xml" Id="R58307166346d4c97" /><Relationship Type="http://schemas.openxmlformats.org/officeDocument/2006/relationships/notesSlide" Target="/ppt/notesSlides/notesSlide2.xml" Id="Rc19232957b6046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b62de19b4e4729" /><Relationship Type="http://schemas.openxmlformats.org/officeDocument/2006/relationships/notesSlide" Target="/ppt/notesSlides/notesSlide3.xml" Id="Red77e9456bee41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fb5e748044462a" /><Relationship Type="http://schemas.openxmlformats.org/officeDocument/2006/relationships/notesSlide" Target="/ppt/notesSlides/notesSlide4.xml" Id="R6e405f24ef1746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1cc51ea272426c" /><Relationship Type="http://schemas.openxmlformats.org/officeDocument/2006/relationships/notesSlide" Target="/ppt/notesSlides/notesSlide5.xml" Id="R21305b36c01f4d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e1977b8da24233" /><Relationship Type="http://schemas.openxmlformats.org/officeDocument/2006/relationships/notesSlide" Target="/ppt/notesSlides/notesSlide6.xml" Id="R06eedb4ae44d4a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4a6ad0aaa84b00" /><Relationship Type="http://schemas.openxmlformats.org/officeDocument/2006/relationships/notesSlide" Target="/ppt/notesSlides/notesSlide7.xml" Id="R4e4dcd45ae824d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1a076b0a284719" /><Relationship Type="http://schemas.openxmlformats.org/officeDocument/2006/relationships/notesSlide" Target="/ppt/notesSlides/notesSlide8.xml" Id="R0c206a2e7ba24366" /></Relationships>
</file>

<file path=ppt/slides/charts/chart1.xml><?xml version="1.0" encoding="utf-8"?>
<c:chartSpace xmlns:c="http://schemas.openxmlformats.org/drawingml/2006/chart">
  <c:lang val="en-US"/>
  <c:chart>
    <c:plotArea>
      <c:barChart>
        <c:barDir val="col"/>
        <c:grouping val="clustered"/>
        <c:varyColors val="0"/>
        <c:ser>
          <c:idx val="0"/>
          <c:order val="0"/>
          <c:tx>
            <c:v>ATE RMSE</c:v>
          </c:tx>
          <c:spPr>
            <a:solidFill xmlns:a="http://schemas.openxmlformats.org/drawingml/2006/main">
              <a:srgbClr val="B7CBC8"/>
            </a:solidFill>
          </c:spPr>
          <c:dPt>
            <c:idx val="2"/>
            <c:invertIfNegative val="0"/>
            <c:spPr>
              <a:solidFill xmlns:a="http://schemas.openxmlformats.org/drawingml/2006/main">
                <a:srgbClr val="007F78"/>
              </a:solidFill>
            </c:spPr>
          </c:dPt>
          <c:cat>
            <c:strLit>
              <c:ptCount val="5"/>
              <c:pt idx="0">
                <c:v>BART-CP</c:v>
              </c:pt>
              <c:pt idx="1">
                <c:v>C-BART</c:v>
              </c:pt>
              <c:pt idx="2">
                <c:v>LRC-BART</c:v>
              </c:pt>
              <c:pt idx="3">
                <c:v>BART-PP</c:v>
              </c:pt>
              <c:pt idx="4">
                <c:v>BART-NP</c:v>
              </c:pt>
            </c:strLit>
          </c:cat>
          <c:val>
            <c:numLit>
              <c:formatCode>0.000</c:formatCode>
              <c:ptCount val="5"/>
              <c:pt idx="0">
                <c:v>0.142</c:v>
              </c:pt>
              <c:pt idx="1">
                <c:v>0.15</c:v>
              </c:pt>
              <c:pt idx="2">
                <c:v>0.172</c:v>
              </c:pt>
              <c:pt idx="3">
                <c:v>0.205</c:v>
              </c:pt>
              <c:pt idx="4">
                <c:v>0.22</c:v>
              </c:pt>
            </c:numLit>
          </c:val>
        </c:ser>
        <c:dLbls>
          <c:txPr>
            <a:bodyPr xmlns:a="http://schemas.openxmlformats.org/drawingml/2006/main" anchorCtr="1"/>
            <a:lstStyle xmlns:a="http://schemas.openxmlformats.org/drawingml/2006/main"/>
            <a:p xmlns:a="http://schemas.openxmlformats.org/drawingml/2006/main">
              <a:pPr>
                <a:defRPr sz="1575">
                  <a:solidFill>
                    <a:srgbClr val="172F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F3C"/>
                </a:solidFill>
                <a:latin typeface="Helvetica Neue"/>
                <a:ea typeface="Helvetica Neue"/>
                <a:cs typeface="Helvetica Neue"/>
              </a:defRPr>
            </a:pPr>
          </a:p>
        </c:txPr>
        <c:crossAx val="48672768"/>
      </c:catAx>
      <c:valAx>
        <c:axId val="48672768"/>
        <c:scaling>
          <c:orientation val="minMax"/>
          <c:max val="0.25"/>
          <c:min val="0"/>
        </c:scaling>
        <c:delete val="0"/>
        <c:axPos val="l"/>
        <c:majorGridlines>
          <c:spPr>
            <a:ln xmlns:a="http://schemas.openxmlformats.org/drawingml/2006/main" w="9525">
              <a:solidFill>
                <a:srgbClr val="D9E1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670"/>
                </a:solidFill>
                <a:latin typeface="Helvetica Neue"/>
                <a:ea typeface="Helvetica Neue"/>
                <a:cs typeface="Helvetica Neue"/>
              </a:defRPr>
            </a:pPr>
          </a:p>
        </c:txPr>
        <c:crossAx val="48650112"/>
        <c:crossBetween val="between"/>
        <c:majorUnit val="0.05"/>
      </c:valAx>
      <c:spPr>
        <a:solidFill xmlns:a="http://schemas.openxmlformats.org/drawingml/2006/main">
          <a:srgbClr val="FAFBFA"/>
        </a:solidFill>
      </c:spPr>
    </c:plotArea>
    <c:plotVisOnly val="1"/>
  </c:chart>
  <c:spPr>
    <a:solidFill xmlns:a="http://schemas.openxmlformats.org/drawingml/2006/main">
      <a:srgbClr val="FAFBFA"/>
    </a:solidFill>
  </c:spPr>
</c:chartSpace>
</file>

<file path=ppt/slides/slide1.xml><?xml version="1.0" encoding="utf-8"?>
<p:sld xmlns:p="http://schemas.openxmlformats.org/presentationml/2006/main">
  <p:cSld>
    <p:bg>
      <p:bgPr>
        <a:solidFill xmlns:a="http://schemas.openxmlformats.org/drawingml/2006/main">
          <a:srgbClr val="007F7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786C1D-363C-4149-94BD-CD54307D0171}"/>
              </a:ext>
            </a:extLst>
          </p:cNvPr>
          <p:cNvSpPr>
            <a:spLocks xmlns:a="http://schemas.openxmlformats.org/drawingml/2006/main" noGrp="1"/>
          </p:cNvSpPr>
          <p:nvPr/>
        </p:nvSpPr>
        <p:spPr>
          <a:xfrm xmlns:a="http://schemas.openxmlformats.org/drawingml/2006/main">
            <a:off x="609600" y="8667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LRC-BART</a:t>
            </a:r>
          </a:p>
        </p:txBody>
      </p:sp>
      <p:sp>
        <p:nvSpPr>
          <p:cNvPr id="2" name="">
            <a:extLst xmlns:a="http://schemas.openxmlformats.org/drawingml/2006/main">
              <a:ext uri="{FF2B5EF4-FFF2-40B4-BE49-F238E27FC236}">
                <a16:creationId xmlns:a16="http://schemas.microsoft.com/office/drawing/2014/main" id="{BD9742C4-D14A-48CE-9435-BAC6B8310287}"/>
              </a:ext>
            </a:extLst>
          </p:cNvPr>
          <p:cNvSpPr>
            <a:spLocks xmlns:a="http://schemas.openxmlformats.org/drawingml/2006/main" noGrp="1"/>
          </p:cNvSpPr>
          <p:nvPr/>
        </p:nvSpPr>
        <p:spPr>
          <a:xfrm xmlns:a="http://schemas.openxmlformats.org/drawingml/2006/main">
            <a:off x="647700" y="20955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Helvetica Neue"/>
                <a:ea typeface="Helvetica Neue"/>
                <a:cs typeface="Helvetica Neue"/>
              </a:defRPr>
            </a:pPr>
            <a:r>
              <a:rPr sz="3000" b="0">
                <a:solidFill>
                  <a:srgbClr val="FFFFFF"/>
                </a:solidFill>
                <a:latin typeface="Helvetica Neue"/>
                <a:ea typeface="Helvetica Neue"/>
                <a:cs typeface="Helvetica Neue"/>
              </a:rPr>
              <a:t>An industry discussant’s perspective</a:t>
            </a:r>
          </a:p>
        </p:txBody>
      </p:sp>
      <p:sp>
        <p:nvSpPr>
          <p:cNvPr id="3" name="">
            <a:extLst xmlns:a="http://schemas.openxmlformats.org/drawingml/2006/main">
              <a:ext uri="{FF2B5EF4-FFF2-40B4-BE49-F238E27FC236}">
                <a16:creationId xmlns:a16="http://schemas.microsoft.com/office/drawing/2014/main" id="{2B7B599F-4007-4B41-8BFA-C50F0BB0B3B6}"/>
              </a:ext>
            </a:extLst>
          </p:cNvPr>
          <p:cNvSpPr>
            <a:spLocks xmlns:a="http://schemas.openxmlformats.org/drawingml/2006/main" noGrp="1"/>
          </p:cNvSpPr>
          <p:nvPr/>
        </p:nvSpPr>
        <p:spPr>
          <a:xfrm xmlns:a="http://schemas.openxmlformats.org/drawingml/2006/main">
            <a:off x="647700" y="3371850"/>
            <a:ext cx="10191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I would fund a pilot with concurrent controls, then test whether borrowing preserves reliable trial decisions.</a:t>
            </a:r>
          </a:p>
        </p:txBody>
      </p:sp>
      <p:sp>
        <p:nvSpPr>
          <p:cNvPr id="4" name="">
            <a:extLst xmlns:a="http://schemas.openxmlformats.org/drawingml/2006/main">
              <a:ext uri="{FF2B5EF4-FFF2-40B4-BE49-F238E27FC236}">
                <a16:creationId xmlns:a16="http://schemas.microsoft.com/office/drawing/2014/main" id="{2CEEB8D4-C027-47C4-B54E-D699C6A0995E}"/>
              </a:ext>
            </a:extLst>
          </p:cNvPr>
          <p:cNvSpPr>
            <a:spLocks xmlns:a="http://schemas.openxmlformats.org/drawingml/2006/main" noGrp="1"/>
          </p:cNvSpPr>
          <p:nvPr/>
        </p:nvSpPr>
        <p:spPr>
          <a:xfrm xmlns:a="http://schemas.openxmlformats.org/drawingml/2006/main">
            <a:off x="647700" y="62674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Paper discussion  ·  September 2026</a:t>
            </a:r>
          </a:p>
        </p:txBody>
      </p:sp>
    </p:spTree>
    <p:extLst>
      <p:ext uri="{BB962C8B-B14F-4D97-AF65-F5344CB8AC3E}">
        <p14:creationId xmlns:p14="http://schemas.microsoft.com/office/powerpoint/2010/main" val="176461973"/>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F7CDA4-A27E-48F8-8107-30C803D7B78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Efficiency improves when the sources agree</a:t>
            </a:r>
          </a:p>
        </p:txBody>
      </p:sp>
      <p:sp>
        <p:nvSpPr>
          <p:cNvPr id="2" name="">
            <a:extLst xmlns:a="http://schemas.openxmlformats.org/drawingml/2006/main">
              <a:ext uri="{FF2B5EF4-FFF2-40B4-BE49-F238E27FC236}">
                <a16:creationId xmlns:a16="http://schemas.microsoft.com/office/drawing/2014/main" id="{D474AA2A-6A02-42E6-B791-80C7FEB0D047}"/>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Gaussian Sc1: average treatment effect RMSE; lower is better</a:t>
            </a:r>
          </a:p>
        </p:txBody>
      </p:sp>
      <p:sp>
        <p:nvSpPr>
          <p:cNvPr id="3" name="">
            <a:extLst xmlns:a="http://schemas.openxmlformats.org/drawingml/2006/main">
              <a:ext uri="{FF2B5EF4-FFF2-40B4-BE49-F238E27FC236}">
                <a16:creationId xmlns:a16="http://schemas.microsoft.com/office/drawing/2014/main" id="{8D093324-7F8B-4C74-A57D-38757E59DECA}"/>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 manuscript Section 3, Gaussian results. 500 simulated trials.</a:t>
            </a:r>
          </a:p>
        </p:txBody>
      </p:sp>
      <p:sp>
        <p:nvSpPr>
          <p:cNvPr id="4" name="">
            <a:extLst xmlns:a="http://schemas.openxmlformats.org/drawingml/2006/main">
              <a:ext uri="{FF2B5EF4-FFF2-40B4-BE49-F238E27FC236}">
                <a16:creationId xmlns:a16="http://schemas.microsoft.com/office/drawing/2014/main" id="{2B838927-6CA1-4114-94B7-EE021560D73B}"/>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02</a:t>
            </a:r>
          </a:p>
        </p:txBody>
      </p:sp>
      <p:graphicFrame>
        <p:nvGraphicFramePr>
          <p:cNvPr id="14" name="Chart"/>
          <p:cNvGraphicFramePr/>
          <p:nvPr/>
        </p:nvGraphicFramePr>
        <p:xfrm>
          <a:off xmlns:a="http://schemas.openxmlformats.org/drawingml/2006/main" x="552450" y="2076450"/>
          <a:ext xmlns:a="http://schemas.openxmlformats.org/drawingml/2006/main" cx="7477125" cy="3448050"/>
        </p:xfrm>
        <a:graphic xmlns:a="http://schemas.openxmlformats.org/drawingml/2006/main">
          <a:graphicData uri="http://schemas.openxmlformats.org/drawingml/2006/chart">
            <c:chart xmlns:r="http://schemas.openxmlformats.org/officeDocument/2006/relationships" xmlns:c="http://schemas.openxmlformats.org/drawingml/2006/chart" r:id="R58307166346d4c97"/>
          </a:graphicData>
        </a:graphic>
      </p:graphicFrame>
      <p:sp>
        <p:nvSpPr>
          <p:cNvPr id="6" name="">
            <a:extLst xmlns:a="http://schemas.openxmlformats.org/drawingml/2006/main">
              <a:ext uri="{FF2B5EF4-FFF2-40B4-BE49-F238E27FC236}">
                <a16:creationId xmlns:a16="http://schemas.microsoft.com/office/drawing/2014/main" id="{D9277F43-5B19-4D2A-BB4D-8A6A5F32D502}"/>
              </a:ext>
            </a:extLst>
          </p:cNvPr>
          <p:cNvSpPr>
            <a:spLocks xmlns:a="http://schemas.openxmlformats.org/drawingml/2006/main" noGrp="1"/>
          </p:cNvSpPr>
          <p:nvPr/>
        </p:nvSpPr>
        <p:spPr>
          <a:xfrm xmlns:a="http://schemas.openxmlformats.org/drawingml/2006/main">
            <a:off x="8382000" y="23907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78"/>
                </a:solidFill>
                <a:latin typeface="Helvetica Neue"/>
                <a:ea typeface="Helvetica Neue"/>
                <a:cs typeface="Helvetica Neue"/>
              </a:defRPr>
            </a:pPr>
            <a:r>
              <a:rPr sz="5700" b="1">
                <a:solidFill>
                  <a:srgbClr val="007F78"/>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CD0F1D9-1C6A-4B6F-B757-C6A9BB5BCBA8}"/>
              </a:ext>
            </a:extLst>
          </p:cNvPr>
          <p:cNvSpPr>
            <a:spLocks xmlns:a="http://schemas.openxmlformats.org/drawingml/2006/main" noGrp="1"/>
          </p:cNvSpPr>
          <p:nvPr/>
        </p:nvSpPr>
        <p:spPr>
          <a:xfrm xmlns:a="http://schemas.openxmlformats.org/drawingml/2006/main">
            <a:off x="8382000" y="3362325"/>
            <a:ext cx="309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lower RMSE than</a:t>
            </a:r>
          </a:p>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source-indicator BART</a:t>
            </a:r>
          </a:p>
        </p:txBody>
      </p:sp>
      <p:sp>
        <p:nvSpPr>
          <p:cNvPr id="8" name="">
            <a:extLst xmlns:a="http://schemas.openxmlformats.org/drawingml/2006/main">
              <a:ext uri="{FF2B5EF4-FFF2-40B4-BE49-F238E27FC236}">
                <a16:creationId xmlns:a16="http://schemas.microsoft.com/office/drawing/2014/main" id="{D18BBADF-043B-4668-A206-D24AA6BD018E}"/>
              </a:ext>
            </a:extLst>
          </p:cNvPr>
          <p:cNvSpPr>
            <a:spLocks xmlns:a="http://schemas.openxmlformats.org/drawingml/2006/main" noGrp="1"/>
          </p:cNvSpPr>
          <p:nvPr/>
        </p:nvSpPr>
        <p:spPr>
          <a:xfrm xmlns:a="http://schemas.openxmlformats.org/drawingml/2006/main">
            <a:off x="8382000" y="4572000"/>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670"/>
                </a:solidFill>
                <a:latin typeface="Helvetica Neue"/>
                <a:ea typeface="Helvetica Neue"/>
                <a:cs typeface="Helvetica Neue"/>
              </a:defRPr>
            </a:pPr>
            <a:r>
              <a:rPr sz="1875" b="0">
                <a:solidFill>
                  <a:srgbClr val="536670"/>
                </a:solidFill>
                <a:latin typeface="Helvetica Neue"/>
                <a:ea typeface="Helvetica Neue"/>
                <a:cs typeface="Helvetica Neue"/>
              </a:rPr>
              <a:t>LRC-BART coverage: 94%</a:t>
            </a:r>
          </a:p>
        </p:txBody>
      </p:sp>
      <p:sp>
        <p:nvSpPr>
          <p:cNvPr id="9" name="">
            <a:extLst xmlns:a="http://schemas.openxmlformats.org/drawingml/2006/main">
              <a:ext uri="{FF2B5EF4-FFF2-40B4-BE49-F238E27FC236}">
                <a16:creationId xmlns:a16="http://schemas.microsoft.com/office/drawing/2014/main" id="{04678549-2F2A-4DD2-8737-0DA478CEC4D0}"/>
              </a:ext>
            </a:extLst>
          </p:cNvPr>
          <p:cNvSpPr>
            <a:spLocks xmlns:a="http://schemas.openxmlformats.org/drawingml/2006/main" noGrp="1"/>
          </p:cNvSpPr>
          <p:nvPr/>
        </p:nvSpPr>
        <p:spPr>
          <a:xfrm xmlns:a="http://schemas.openxmlformats.org/drawingml/2006/main">
            <a:off x="628650" y="56769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2F3C"/>
                </a:solidFill>
                <a:latin typeface="Helvetica Neue"/>
                <a:ea typeface="Helvetica Neue"/>
                <a:cs typeface="Helvetica Neue"/>
              </a:defRPr>
            </a:pPr>
            <a:r>
              <a:rPr sz="1950" b="1">
                <a:solidFill>
                  <a:srgbClr val="172F3C"/>
                </a:solidFill>
                <a:latin typeface="Helvetica Neue"/>
                <a:ea typeface="Helvetica Neue"/>
                <a:cs typeface="Helvetica Neue"/>
              </a:rPr>
              <a:t>Trial-design simulations would show whether this gain allows fewer controls.</a:t>
            </a:r>
          </a:p>
        </p:txBody>
      </p:sp>
    </p:spTree>
    <p:extLst>
      <p:ext uri="{BB962C8B-B14F-4D97-AF65-F5344CB8AC3E}">
        <p14:creationId xmlns:p14="http://schemas.microsoft.com/office/powerpoint/2010/main" val="865159776"/>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A89C03-A776-4DAF-A9EA-D2E31715545D}"/>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Regional errors can cancel in the average</a:t>
            </a:r>
          </a:p>
        </p:txBody>
      </p:sp>
      <p:sp>
        <p:nvSpPr>
          <p:cNvPr id="2" name="">
            <a:extLst xmlns:a="http://schemas.openxmlformats.org/drawingml/2006/main">
              <a:ext uri="{FF2B5EF4-FFF2-40B4-BE49-F238E27FC236}">
                <a16:creationId xmlns:a16="http://schemas.microsoft.com/office/drawing/2014/main" id="{2272ECD5-7D49-45BE-80E6-135C946A76F5}"/>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Sc4: the external-control shift affects half the trial population</a:t>
            </a:r>
          </a:p>
        </p:txBody>
      </p:sp>
      <p:sp>
        <p:nvSpPr>
          <p:cNvPr id="3" name="">
            <a:extLst xmlns:a="http://schemas.openxmlformats.org/drawingml/2006/main">
              <a:ext uri="{FF2B5EF4-FFF2-40B4-BE49-F238E27FC236}">
                <a16:creationId xmlns:a16="http://schemas.microsoft.com/office/drawing/2014/main" id="{A10E8911-058D-4281-9FE4-C000676CC246}"/>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 manuscript Section 3, regional-shift results and Web Appendix G.3.</a:t>
            </a:r>
          </a:p>
        </p:txBody>
      </p:sp>
      <p:sp>
        <p:nvSpPr>
          <p:cNvPr id="4" name="">
            <a:extLst xmlns:a="http://schemas.openxmlformats.org/drawingml/2006/main">
              <a:ext uri="{FF2B5EF4-FFF2-40B4-BE49-F238E27FC236}">
                <a16:creationId xmlns:a16="http://schemas.microsoft.com/office/drawing/2014/main" id="{F72DAFF4-0EED-4A35-86F7-307E64258E9E}"/>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03</a:t>
            </a:r>
          </a:p>
        </p:txBody>
      </p:sp>
      <p:graphicFrame>
        <p:nvGraphicFramePr>
          <p:cNvPr id="13" name=""/>
          <p:cNvGraphicFramePr/>
          <p:nvPr/>
        </p:nvGraphicFramePr>
        <p:xfrm>
          <a:off xmlns:a="http://schemas.openxmlformats.org/drawingml/2006/main" x="628650" y="2209800"/>
          <a:ext xmlns:a="http://schemas.openxmlformats.org/drawingml/2006/main" cx="10934700" cy="2286000"/>
        </p:xfrm>
        <a:graphic xmlns:a="http://schemas.openxmlformats.org/drawingml/2006/main">
          <a:graphicData uri="http://schemas.openxmlformats.org/drawingml/2006/table">
            <a:tbl>
              <a:tblPr/>
              <a:tblGrid>
                <a:gridCol w="5715000"/>
                <a:gridCol w="2609850"/>
                <a:gridCol w="2609850"/>
              </a:tblGrid>
              <a:tr h="762000">
                <a:tc>
                  <a:txBody>
                    <a:bodyPr/>
                    <a:lstStyle/>
                    <a:p>
                      <a:r>
                        <a:rPr sz="1950" b="1">
                          <a:solidFill>
                            <a:srgbClr val="FFFFFF"/>
                          </a:solidFill>
                          <a:latin typeface="Helvetica Neue"/>
                          <a:ea typeface="Helvetica Neue"/>
                          <a:cs typeface="Helvetica Neue"/>
                        </a:rPr>
                        <a:t>Control-surface RMSE</a:t>
                      </a:r>
                    </a:p>
                  </a:txBody>
                  <a:tcPr marL="152400" marR="114300" marT="114300" marB="114300" anchor="ctr">
                    <a:solidFill>
                      <a:srgbClr val="007F78"/>
                    </a:solidFill>
                  </a:tcPr>
                </a:tc>
                <a:tc>
                  <a:txBody>
                    <a:bodyPr/>
                    <a:lstStyle/>
                    <a:p>
                      <a:r>
                        <a:rPr sz="1950" b="1">
                          <a:solidFill>
                            <a:srgbClr val="FFFFFF"/>
                          </a:solidFill>
                          <a:latin typeface="Helvetica Neue"/>
                          <a:ea typeface="Helvetica Neue"/>
                          <a:cs typeface="Helvetica Neue"/>
                        </a:rPr>
                        <a:t>LRC-BART</a:t>
                      </a:r>
                    </a:p>
                  </a:txBody>
                  <a:tcPr marL="152400" marR="114300" marT="114300" marB="114300" anchor="ctr">
                    <a:solidFill>
                      <a:srgbClr val="007F78"/>
                    </a:solidFill>
                  </a:tcPr>
                </a:tc>
                <a:tc>
                  <a:txBody>
                    <a:bodyPr/>
                    <a:lstStyle/>
                    <a:p>
                      <a:r>
                        <a:rPr sz="1950" b="1">
                          <a:solidFill>
                            <a:srgbClr val="FFFFFF"/>
                          </a:solidFill>
                          <a:latin typeface="Helvetica Neue"/>
                          <a:ea typeface="Helvetica Neue"/>
                          <a:cs typeface="Helvetica Neue"/>
                        </a:rPr>
                        <a:t>BART-PP</a:t>
                      </a:r>
                    </a:p>
                  </a:txBody>
                  <a:tcPr marL="152400" marR="114300" marT="114300" marB="114300" anchor="ctr">
                    <a:solidFill>
                      <a:srgbClr val="007F78"/>
                    </a:solidFill>
                  </a:tcPr>
                </a:tc>
              </a:tr>
              <a:tr h="762000">
                <a:tc>
                  <a:txBody>
                    <a:bodyPr/>
                    <a:lstStyle/>
                    <a:p>
                      <a:r>
                        <a:rPr sz="1950" b="1">
                          <a:solidFill>
                            <a:srgbClr val="172F3C"/>
                          </a:solidFill>
                          <a:latin typeface="Helvetica Neue"/>
                          <a:ea typeface="Helvetica Neue"/>
                          <a:cs typeface="Helvetica Neue"/>
                        </a:rPr>
                        <a:t>Compatible region</a:t>
                      </a:r>
                    </a:p>
                  </a:txBody>
                  <a:tcPr marL="152400" marR="114300" marT="114300" marB="114300" anchor="ctr">
                    <a:solidFill>
                      <a:srgbClr val="FFFFFF"/>
                    </a:solidFill>
                  </a:tcPr>
                </a:tc>
                <a:tc>
                  <a:txBody>
                    <a:bodyPr/>
                    <a:lstStyle/>
                    <a:p>
                      <a:r>
                        <a:rPr sz="1950" b="0">
                          <a:solidFill>
                            <a:srgbClr val="172F3C"/>
                          </a:solidFill>
                          <a:latin typeface="Helvetica Neue"/>
                          <a:ea typeface="Helvetica Neue"/>
                          <a:cs typeface="Helvetica Neue"/>
                        </a:rPr>
                        <a:t>0.824</a:t>
                      </a:r>
                    </a:p>
                  </a:txBody>
                  <a:tcPr marL="152400" marR="114300" marT="114300" marB="114300" anchor="ctr">
                    <a:solidFill>
                      <a:srgbClr val="FFFFFF"/>
                    </a:solidFill>
                  </a:tcPr>
                </a:tc>
                <a:tc>
                  <a:txBody>
                    <a:bodyPr/>
                    <a:lstStyle/>
                    <a:p>
                      <a:r>
                        <a:rPr sz="1950" b="0">
                          <a:solidFill>
                            <a:srgbClr val="172F3C"/>
                          </a:solidFill>
                          <a:latin typeface="Helvetica Neue"/>
                          <a:ea typeface="Helvetica Neue"/>
                          <a:cs typeface="Helvetica Neue"/>
                        </a:rPr>
                        <a:t>0.785</a:t>
                      </a:r>
                    </a:p>
                  </a:txBody>
                  <a:tcPr marL="152400" marR="114300" marT="114300" marB="114300" anchor="ctr">
                    <a:solidFill>
                      <a:srgbClr val="FFFFFF"/>
                    </a:solidFill>
                  </a:tcPr>
                </a:tc>
              </a:tr>
              <a:tr h="762000">
                <a:tc>
                  <a:txBody>
                    <a:bodyPr/>
                    <a:lstStyle/>
                    <a:p>
                      <a:r>
                        <a:rPr sz="1950" b="1">
                          <a:solidFill>
                            <a:srgbClr val="172F3C"/>
                          </a:solidFill>
                          <a:latin typeface="Helvetica Neue"/>
                          <a:ea typeface="Helvetica Neue"/>
                          <a:cs typeface="Helvetica Neue"/>
                        </a:rPr>
                        <a:t>Incompatible region</a:t>
                      </a:r>
                    </a:p>
                  </a:txBody>
                  <a:tcPr marL="152400" marR="114300" marT="114300" marB="114300" anchor="ctr">
                    <a:solidFill>
                      <a:srgbClr val="E9EFEE"/>
                    </a:solidFill>
                  </a:tcPr>
                </a:tc>
                <a:tc>
                  <a:txBody>
                    <a:bodyPr/>
                    <a:lstStyle/>
                    <a:p>
                      <a:r>
                        <a:rPr sz="1950" b="0">
                          <a:solidFill>
                            <a:srgbClr val="172F3C"/>
                          </a:solidFill>
                          <a:latin typeface="Helvetica Neue"/>
                          <a:ea typeface="Helvetica Neue"/>
                          <a:cs typeface="Helvetica Neue"/>
                        </a:rPr>
                        <a:t>0.857</a:t>
                      </a:r>
                    </a:p>
                  </a:txBody>
                  <a:tcPr marL="152400" marR="114300" marT="114300" marB="114300" anchor="ctr">
                    <a:solidFill>
                      <a:srgbClr val="E9EFEE"/>
                    </a:solidFill>
                  </a:tcPr>
                </a:tc>
                <a:tc>
                  <a:txBody>
                    <a:bodyPr/>
                    <a:lstStyle/>
                    <a:p>
                      <a:r>
                        <a:rPr sz="1950" b="0">
                          <a:solidFill>
                            <a:srgbClr val="172F3C"/>
                          </a:solidFill>
                          <a:latin typeface="Helvetica Neue"/>
                          <a:ea typeface="Helvetica Neue"/>
                          <a:cs typeface="Helvetica Neue"/>
                        </a:rPr>
                        <a:t>0.822</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15553B9D-CC66-43E2-A542-DAC24B120476}"/>
              </a:ext>
            </a:extLst>
          </p:cNvPr>
          <p:cNvSpPr>
            <a:spLocks xmlns:a="http://schemas.openxmlformats.org/drawingml/2006/main" noGrp="1"/>
          </p:cNvSpPr>
          <p:nvPr/>
        </p:nvSpPr>
        <p:spPr>
          <a:xfrm xmlns:a="http://schemas.openxmlformats.org/drawingml/2006/main">
            <a:off x="628650" y="4848225"/>
            <a:ext cx="419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8"/>
                </a:solidFill>
                <a:latin typeface="Helvetica Neue"/>
                <a:ea typeface="Helvetica Neue"/>
                <a:cs typeface="Helvetica Neue"/>
              </a:defRPr>
            </a:pPr>
            <a:r>
              <a:rPr sz="2550" b="1">
                <a:solidFill>
                  <a:srgbClr val="007F78"/>
                </a:solidFill>
                <a:latin typeface="Helvetica Neue"/>
                <a:ea typeface="Helvetica Neue"/>
                <a:cs typeface="Helvetica Neue"/>
              </a:rPr>
              <a:t>ATE bias = 0.000</a:t>
            </a:r>
          </a:p>
        </p:txBody>
      </p:sp>
      <p:sp>
        <p:nvSpPr>
          <p:cNvPr id="7" name="">
            <a:extLst xmlns:a="http://schemas.openxmlformats.org/drawingml/2006/main">
              <a:ext uri="{FF2B5EF4-FFF2-40B4-BE49-F238E27FC236}">
                <a16:creationId xmlns:a16="http://schemas.microsoft.com/office/drawing/2014/main" id="{2B3B1DE2-6762-41AE-9661-1ACDAFD7799F}"/>
              </a:ext>
            </a:extLst>
          </p:cNvPr>
          <p:cNvSpPr>
            <a:spLocks xmlns:a="http://schemas.openxmlformats.org/drawingml/2006/main" noGrp="1"/>
          </p:cNvSpPr>
          <p:nvPr/>
        </p:nvSpPr>
        <p:spPr>
          <a:xfrm xmlns:a="http://schemas.openxmlformats.org/drawingml/2006/main">
            <a:off x="4953000" y="4857750"/>
            <a:ext cx="6534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Opposite regional errors cancel in the average.</a:t>
            </a:r>
          </a:p>
        </p:txBody>
      </p:sp>
      <p:sp>
        <p:nvSpPr>
          <p:cNvPr id="8" name="">
            <a:extLst xmlns:a="http://schemas.openxmlformats.org/drawingml/2006/main">
              <a:ext uri="{FF2B5EF4-FFF2-40B4-BE49-F238E27FC236}">
                <a16:creationId xmlns:a16="http://schemas.microsoft.com/office/drawing/2014/main" id="{48FB1314-8C9B-46B0-BD03-E17C150E40FD}"/>
              </a:ext>
            </a:extLst>
          </p:cNvPr>
          <p:cNvSpPr>
            <a:spLocks xmlns:a="http://schemas.openxmlformats.org/drawingml/2006/main" noGrp="1"/>
          </p:cNvSpPr>
          <p:nvPr/>
        </p:nvSpPr>
        <p:spPr>
          <a:xfrm xmlns:a="http://schemas.openxmlformats.org/drawingml/2006/main">
            <a:off x="628650" y="56959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04C36"/>
                </a:solidFill>
                <a:latin typeface="Helvetica Neue"/>
                <a:ea typeface="Helvetica Neue"/>
                <a:cs typeface="Helvetica Neue"/>
              </a:defRPr>
            </a:pPr>
            <a:r>
              <a:rPr sz="2100" b="1">
                <a:solidFill>
                  <a:srgbClr val="B04C36"/>
                </a:solidFill>
                <a:latin typeface="Helvetica Neue"/>
                <a:ea typeface="Helvetica Neue"/>
                <a:cs typeface="Helvetica Neue"/>
              </a:rPr>
              <a:t>At a smaller shift, LRC-BART coverage falls to 89%.</a:t>
            </a:r>
          </a:p>
        </p:txBody>
      </p:sp>
    </p:spTree>
    <p:extLst>
      <p:ext uri="{BB962C8B-B14F-4D97-AF65-F5344CB8AC3E}">
        <p14:creationId xmlns:p14="http://schemas.microsoft.com/office/powerpoint/2010/main" val="367117401"/>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D34ECA-87AB-4820-94DF-F79B215D62B8}"/>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The ESS target does not determine enrollment</a:t>
            </a:r>
          </a:p>
        </p:txBody>
      </p:sp>
      <p:sp>
        <p:nvSpPr>
          <p:cNvPr id="2" name="">
            <a:extLst xmlns:a="http://schemas.openxmlformats.org/drawingml/2006/main">
              <a:ext uri="{FF2B5EF4-FFF2-40B4-BE49-F238E27FC236}">
                <a16:creationId xmlns:a16="http://schemas.microsoft.com/office/drawing/2014/main" id="{0E22875C-759C-4A49-9087-FE343FA1545D}"/>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Sc1, target 100: four different quantities describe prior precision</a:t>
            </a:r>
          </a:p>
        </p:txBody>
      </p:sp>
      <p:sp>
        <p:nvSpPr>
          <p:cNvPr id="3" name="">
            <a:extLst xmlns:a="http://schemas.openxmlformats.org/drawingml/2006/main">
              <a:ext uri="{FF2B5EF4-FFF2-40B4-BE49-F238E27FC236}">
                <a16:creationId xmlns:a16="http://schemas.microsoft.com/office/drawing/2014/main" id="{0871E7F8-5B24-439B-8B55-415DFF8F17C5}"/>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 manuscript Sections 2.4–2.5 and Section 3, Gaussian Sc1–Sc2.</a:t>
            </a:r>
          </a:p>
        </p:txBody>
      </p:sp>
      <p:sp>
        <p:nvSpPr>
          <p:cNvPr id="4" name="">
            <a:extLst xmlns:a="http://schemas.openxmlformats.org/drawingml/2006/main">
              <a:ext uri="{FF2B5EF4-FFF2-40B4-BE49-F238E27FC236}">
                <a16:creationId xmlns:a16="http://schemas.microsoft.com/office/drawing/2014/main" id="{E361FEB1-5C97-4E4B-93B0-EFAD2FDFFEB4}"/>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04</a:t>
            </a:r>
          </a:p>
        </p:txBody>
      </p:sp>
      <p:graphicFrame>
        <p:nvGraphicFramePr>
          <p:cNvPr id="12" name=""/>
          <p:cNvGraphicFramePr/>
          <p:nvPr/>
        </p:nvGraphicFramePr>
        <p:xfrm>
          <a:off xmlns:a="http://schemas.openxmlformats.org/drawingml/2006/main" x="628650" y="2209800"/>
          <a:ext xmlns:a="http://schemas.openxmlformats.org/drawingml/2006/main" cx="10934700" cy="3000375"/>
        </p:xfrm>
        <a:graphic xmlns:a="http://schemas.openxmlformats.org/drawingml/2006/main">
          <a:graphicData uri="http://schemas.openxmlformats.org/drawingml/2006/table">
            <a:tbl>
              <a:tblPr/>
              <a:tblGrid>
                <a:gridCol w="3524250"/>
                <a:gridCol w="1857375"/>
                <a:gridCol w="5553075"/>
              </a:tblGrid>
              <a:tr h="600075">
                <a:tc>
                  <a:txBody>
                    <a:bodyPr/>
                    <a:lstStyle/>
                    <a:p>
                      <a:r>
                        <a:rPr sz="1800" b="1">
                          <a:solidFill>
                            <a:srgbClr val="FFFFFF"/>
                          </a:solidFill>
                          <a:latin typeface="Helvetica Neue"/>
                          <a:ea typeface="Helvetica Neue"/>
                          <a:cs typeface="Helvetica Neue"/>
                        </a:rPr>
                        <a:t>ESS quantity</a:t>
                      </a:r>
                    </a:p>
                  </a:txBody>
                  <a:tcPr marL="152400" marR="114300" marT="114300" marB="114300" anchor="ctr">
                    <a:solidFill>
                      <a:srgbClr val="007F78"/>
                    </a:solidFill>
                  </a:tcPr>
                </a:tc>
                <a:tc>
                  <a:txBody>
                    <a:bodyPr/>
                    <a:lstStyle/>
                    <a:p>
                      <a:r>
                        <a:rPr sz="1800" b="1">
                          <a:solidFill>
                            <a:srgbClr val="FFFFFF"/>
                          </a:solidFill>
                          <a:latin typeface="Helvetica Neue"/>
                          <a:ea typeface="Helvetica Neue"/>
                          <a:cs typeface="Helvetica Neue"/>
                        </a:rPr>
                        <a:t>Sc1 value</a:t>
                      </a:r>
                    </a:p>
                  </a:txBody>
                  <a:tcPr marL="152400" marR="114300" marT="114300" marB="114300" anchor="ctr">
                    <a:solidFill>
                      <a:srgbClr val="007F78"/>
                    </a:solidFill>
                  </a:tcPr>
                </a:tc>
                <a:tc>
                  <a:txBody>
                    <a:bodyPr/>
                    <a:lstStyle/>
                    <a:p>
                      <a:r>
                        <a:rPr sz="1800" b="1">
                          <a:solidFill>
                            <a:srgbClr val="FFFFFF"/>
                          </a:solidFill>
                          <a:latin typeface="Helvetica Neue"/>
                          <a:ea typeface="Helvetica Neue"/>
                          <a:cs typeface="Helvetica Neue"/>
                        </a:rPr>
                        <a:t>Meaning</a:t>
                      </a:r>
                    </a:p>
                  </a:txBody>
                  <a:tcPr marL="152400" marR="114300" marT="114300" marB="114300" anchor="ctr">
                    <a:solidFill>
                      <a:srgbClr val="007F78"/>
                    </a:solidFill>
                  </a:tcPr>
                </a:tc>
              </a:tr>
              <a:tr h="600075">
                <a:tc>
                  <a:txBody>
                    <a:bodyPr/>
                    <a:lstStyle/>
                    <a:p>
                      <a:r>
                        <a:rPr sz="1800" b="1">
                          <a:solidFill>
                            <a:srgbClr val="172F3C"/>
                          </a:solidFill>
                          <a:latin typeface="Helvetica Neue"/>
                          <a:ea typeface="Helvetica Neue"/>
                          <a:cs typeface="Helvetica Neue"/>
                        </a:rPr>
                        <a:t>Requested target</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100</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Calibration goal</a:t>
                      </a:r>
                    </a:p>
                  </a:txBody>
                  <a:tcPr marL="152400" marR="114300" marT="114300" marB="114300" anchor="ctr">
                    <a:solidFill>
                      <a:srgbClr val="FFFFFF"/>
                    </a:solidFill>
                  </a:tcPr>
                </a:tc>
              </a:tr>
              <a:tr h="600075">
                <a:tc>
                  <a:txBody>
                    <a:bodyPr/>
                    <a:lstStyle/>
                    <a:p>
                      <a:r>
                        <a:rPr sz="1800" b="1">
                          <a:solidFill>
                            <a:srgbClr val="172F3C"/>
                          </a:solidFill>
                          <a:latin typeface="Helvetica Neue"/>
                          <a:ea typeface="Helvetica Neue"/>
                          <a:cs typeface="Helvetica Neue"/>
                        </a:rPr>
                        <a:t>Mean prior ESS</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82</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Calibrated precision summary</a:t>
                      </a:r>
                    </a:p>
                  </a:txBody>
                  <a:tcPr marL="152400" marR="114300" marT="114300" marB="114300" anchor="ctr">
                    <a:solidFill>
                      <a:srgbClr val="E9EFEE"/>
                    </a:solidFill>
                  </a:tcPr>
                </a:tc>
              </a:tr>
              <a:tr h="600075">
                <a:tc>
                  <a:txBody>
                    <a:bodyPr/>
                    <a:lstStyle/>
                    <a:p>
                      <a:r>
                        <a:rPr sz="1800" b="1">
                          <a:solidFill>
                            <a:srgbClr val="172F3C"/>
                          </a:solidFill>
                          <a:latin typeface="Helvetica Neue"/>
                          <a:ea typeface="Helvetica Neue"/>
                          <a:cs typeface="Helvetica Neue"/>
                        </a:rPr>
                        <a:t>Mean realized ESS</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53</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Precision at learned model states</a:t>
                      </a:r>
                    </a:p>
                  </a:txBody>
                  <a:tcPr marL="152400" marR="114300" marT="114300" marB="114300" anchor="ctr">
                    <a:solidFill>
                      <a:srgbClr val="FFFFFF"/>
                    </a:solidFill>
                  </a:tcPr>
                </a:tc>
              </a:tr>
              <a:tr h="600075">
                <a:tc>
                  <a:txBody>
                    <a:bodyPr/>
                    <a:lstStyle/>
                    <a:p>
                      <a:r>
                        <a:rPr sz="1800" b="1">
                          <a:solidFill>
                            <a:srgbClr val="172F3C"/>
                          </a:solidFill>
                          <a:latin typeface="Helvetica Neue"/>
                          <a:ea typeface="Helvetica Neue"/>
                          <a:cs typeface="Helvetica Neue"/>
                        </a:rPr>
                        <a:t>Mean ceiling</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127</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Model-based upper limit</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AD5EEC1B-7F7F-40D4-AEB9-0A22FF2E9A75}"/>
              </a:ext>
            </a:extLst>
          </p:cNvPr>
          <p:cNvSpPr>
            <a:spLocks xmlns:a="http://schemas.openxmlformats.org/drawingml/2006/main" noGrp="1"/>
          </p:cNvSpPr>
          <p:nvPr/>
        </p:nvSpPr>
        <p:spPr>
          <a:xfrm xmlns:a="http://schemas.openxmlformats.org/drawingml/2006/main">
            <a:off x="628650" y="5467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Poor overlap lowers the mean ceiling to 23 in Sc2.</a:t>
            </a:r>
          </a:p>
        </p:txBody>
      </p:sp>
      <p:sp>
        <p:nvSpPr>
          <p:cNvPr id="7" name="">
            <a:extLst xmlns:a="http://schemas.openxmlformats.org/drawingml/2006/main">
              <a:ext uri="{FF2B5EF4-FFF2-40B4-BE49-F238E27FC236}">
                <a16:creationId xmlns:a16="http://schemas.microsoft.com/office/drawing/2014/main" id="{2ADC565D-AEB9-47B7-A284-4809F487BFF8}"/>
              </a:ext>
            </a:extLst>
          </p:cNvPr>
          <p:cNvSpPr>
            <a:spLocks xmlns:a="http://schemas.openxmlformats.org/drawingml/2006/main" noGrp="1"/>
          </p:cNvSpPr>
          <p:nvPr/>
        </p:nvSpPr>
        <p:spPr>
          <a:xfrm xmlns:a="http://schemas.openxmlformats.org/drawingml/2006/main">
            <a:off x="62865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670"/>
                </a:solidFill>
                <a:latin typeface="Helvetica Neue"/>
                <a:ea typeface="Helvetica Neue"/>
                <a:cs typeface="Helvetica Neue"/>
              </a:defRPr>
            </a:pPr>
            <a:r>
              <a:rPr sz="1725" b="0">
                <a:solidFill>
                  <a:srgbClr val="536670"/>
                </a:solidFill>
                <a:latin typeface="Helvetica Neue"/>
                <a:ea typeface="Helvetica Neue"/>
                <a:cs typeface="Helvetica Neue"/>
              </a:rPr>
              <a:t>None of these quantities establishes how many controls can be removed.</a:t>
            </a:r>
          </a:p>
        </p:txBody>
      </p:sp>
    </p:spTree>
    <p:extLst>
      <p:ext uri="{BB962C8B-B14F-4D97-AF65-F5344CB8AC3E}">
        <p14:creationId xmlns:p14="http://schemas.microsoft.com/office/powerpoint/2010/main" val="895257381"/>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664BF8-A62B-45F7-975F-76A0975E54AD}"/>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A randomized hybrid trial would be my first pilot</a:t>
            </a:r>
          </a:p>
        </p:txBody>
      </p:sp>
      <p:sp>
        <p:nvSpPr>
          <p:cNvPr id="2" name="">
            <a:extLst xmlns:a="http://schemas.openxmlformats.org/drawingml/2006/main">
              <a:ext uri="{FF2B5EF4-FFF2-40B4-BE49-F238E27FC236}">
                <a16:creationId xmlns:a16="http://schemas.microsoft.com/office/drawing/2014/main" id="{1B2F9CE4-9A22-4606-A1DA-A12A514B2244}"/>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Concurrent controls would allow the discrepancy to be estimated.</a:t>
            </a:r>
          </a:p>
        </p:txBody>
      </p:sp>
      <p:sp>
        <p:nvSpPr>
          <p:cNvPr id="3" name="">
            <a:extLst xmlns:a="http://schemas.openxmlformats.org/drawingml/2006/main">
              <a:ext uri="{FF2B5EF4-FFF2-40B4-BE49-F238E27FC236}">
                <a16:creationId xmlns:a16="http://schemas.microsoft.com/office/drawing/2014/main" id="{0D4D67ED-4172-4138-9974-CEFB00CBC4D5}"/>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Discussant proposal, informed by the manuscript’s reported strengths and limitations.</a:t>
            </a:r>
          </a:p>
        </p:txBody>
      </p:sp>
      <p:sp>
        <p:nvSpPr>
          <p:cNvPr id="4" name="">
            <a:extLst xmlns:a="http://schemas.openxmlformats.org/drawingml/2006/main">
              <a:ext uri="{FF2B5EF4-FFF2-40B4-BE49-F238E27FC236}">
                <a16:creationId xmlns:a16="http://schemas.microsoft.com/office/drawing/2014/main" id="{5886DC00-BFA0-415D-8A72-A5291C411524}"/>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9A90627-B44D-4FDC-93A0-0098CB4302A4}"/>
              </a:ext>
            </a:extLst>
          </p:cNvPr>
          <p:cNvSpPr>
            <a:spLocks xmlns:a="http://schemas.openxmlformats.org/drawingml/2006/main" noGrp="1"/>
          </p:cNvSpPr>
          <p:nvPr/>
        </p:nvSpPr>
        <p:spPr>
          <a:xfrm xmlns:a="http://schemas.openxmlformats.org/drawingml/2006/main">
            <a:off x="628650" y="21907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Trial design</a:t>
            </a:r>
          </a:p>
        </p:txBody>
      </p:sp>
      <p:sp>
        <p:nvSpPr>
          <p:cNvPr id="6" name="">
            <a:extLst xmlns:a="http://schemas.openxmlformats.org/drawingml/2006/main">
              <a:ext uri="{FF2B5EF4-FFF2-40B4-BE49-F238E27FC236}">
                <a16:creationId xmlns:a16="http://schemas.microsoft.com/office/drawing/2014/main" id="{BCB6DC9F-80F2-44DE-B9FD-2C1A7BADFCA6}"/>
              </a:ext>
            </a:extLst>
          </p:cNvPr>
          <p:cNvSpPr>
            <a:spLocks xmlns:a="http://schemas.openxmlformats.org/drawingml/2006/main" noGrp="1"/>
          </p:cNvSpPr>
          <p:nvPr/>
        </p:nvSpPr>
        <p:spPr>
          <a:xfrm xmlns:a="http://schemas.openxmlformats.org/drawingml/2006/main">
            <a:off x="4000500" y="219075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Retain concurrent controls and prespecify the role of the borrowing map.</a:t>
            </a:r>
          </a:p>
        </p:txBody>
      </p:sp>
      <p:sp>
        <p:nvSpPr>
          <p:cNvPr id="7" name="">
            <a:extLst xmlns:a="http://schemas.openxmlformats.org/drawingml/2006/main">
              <a:ext uri="{FF2B5EF4-FFF2-40B4-BE49-F238E27FC236}">
                <a16:creationId xmlns:a16="http://schemas.microsoft.com/office/drawing/2014/main" id="{70C279B5-5AA3-427F-A80B-A23D8C2956EB}"/>
              </a:ext>
            </a:extLst>
          </p:cNvPr>
          <p:cNvSpPr>
            <a:spLocks xmlns:a="http://schemas.openxmlformats.org/drawingml/2006/main" noGrp="1"/>
          </p:cNvSpPr>
          <p:nvPr/>
        </p:nvSpPr>
        <p:spPr>
          <a:xfrm xmlns:a="http://schemas.openxmlformats.org/drawingml/2006/main">
            <a:off x="628650" y="32956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External cohort</a:t>
            </a:r>
          </a:p>
        </p:txBody>
      </p:sp>
      <p:sp>
        <p:nvSpPr>
          <p:cNvPr id="8" name="">
            <a:extLst xmlns:a="http://schemas.openxmlformats.org/drawingml/2006/main">
              <a:ext uri="{FF2B5EF4-FFF2-40B4-BE49-F238E27FC236}">
                <a16:creationId xmlns:a16="http://schemas.microsoft.com/office/drawing/2014/main" id="{2EC27FE5-960D-40D8-AA93-86843F0871B1}"/>
              </a:ext>
            </a:extLst>
          </p:cNvPr>
          <p:cNvSpPr>
            <a:spLocks xmlns:a="http://schemas.openxmlformats.org/drawingml/2006/main" noGrp="1"/>
          </p:cNvSpPr>
          <p:nvPr/>
        </p:nvSpPr>
        <p:spPr>
          <a:xfrm xmlns:a="http://schemas.openxmlformats.org/drawingml/2006/main">
            <a:off x="4000500" y="329565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Lock cohort rules, time zero, endpoint definitions and data refresh rules.</a:t>
            </a:r>
          </a:p>
        </p:txBody>
      </p:sp>
      <p:sp>
        <p:nvSpPr>
          <p:cNvPr id="9" name="">
            <a:extLst xmlns:a="http://schemas.openxmlformats.org/drawingml/2006/main">
              <a:ext uri="{FF2B5EF4-FFF2-40B4-BE49-F238E27FC236}">
                <a16:creationId xmlns:a16="http://schemas.microsoft.com/office/drawing/2014/main" id="{6BA8F8E7-37CD-46F7-9772-7AE2167769E9}"/>
              </a:ext>
            </a:extLst>
          </p:cNvPr>
          <p:cNvSpPr>
            <a:spLocks xmlns:a="http://schemas.openxmlformats.org/drawingml/2006/main" noGrp="1"/>
          </p:cNvSpPr>
          <p:nvPr/>
        </p:nvSpPr>
        <p:spPr>
          <a:xfrm xmlns:a="http://schemas.openxmlformats.org/drawingml/2006/main">
            <a:off x="628650" y="44005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Decision evidence</a:t>
            </a:r>
          </a:p>
        </p:txBody>
      </p:sp>
      <p:sp>
        <p:nvSpPr>
          <p:cNvPr id="10" name="">
            <a:extLst xmlns:a="http://schemas.openxmlformats.org/drawingml/2006/main">
              <a:ext uri="{FF2B5EF4-FFF2-40B4-BE49-F238E27FC236}">
                <a16:creationId xmlns:a16="http://schemas.microsoft.com/office/drawing/2014/main" id="{930F4071-74E0-43EA-80EC-90CEAB4D9383}"/>
              </a:ext>
            </a:extLst>
          </p:cNvPr>
          <p:cNvSpPr>
            <a:spLocks xmlns:a="http://schemas.openxmlformats.org/drawingml/2006/main" noGrp="1"/>
          </p:cNvSpPr>
          <p:nvPr/>
        </p:nvSpPr>
        <p:spPr>
          <a:xfrm xmlns:a="http://schemas.openxmlformats.org/drawingml/2006/main">
            <a:off x="4000500" y="440055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Compare power, error rates, bias and precision with a trial-only analysis.</a:t>
            </a:r>
          </a:p>
        </p:txBody>
      </p:sp>
      <p:sp>
        <p:nvSpPr>
          <p:cNvPr id="11" name="">
            <a:extLst xmlns:a="http://schemas.openxmlformats.org/drawingml/2006/main">
              <a:ext uri="{FF2B5EF4-FFF2-40B4-BE49-F238E27FC236}">
                <a16:creationId xmlns:a16="http://schemas.microsoft.com/office/drawing/2014/main" id="{0570AC9D-892E-47EC-AD98-1A28D99E9D36}"/>
              </a:ext>
            </a:extLst>
          </p:cNvPr>
          <p:cNvSpPr>
            <a:spLocks xmlns:a="http://schemas.openxmlformats.org/drawingml/2006/main" noGrp="1"/>
          </p:cNvSpPr>
          <p:nvPr/>
        </p:nvSpPr>
        <p:spPr>
          <a:xfrm xmlns:a="http://schemas.openxmlformats.org/drawingml/2006/main">
            <a:off x="628650" y="5657850"/>
            <a:ext cx="10915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This evaluation would estimate the enrollment and timeline savings.</a:t>
            </a:r>
          </a:p>
        </p:txBody>
      </p:sp>
    </p:spTree>
    <p:extLst>
      <p:ext uri="{BB962C8B-B14F-4D97-AF65-F5344CB8AC3E}">
        <p14:creationId xmlns:p14="http://schemas.microsoft.com/office/powerpoint/2010/main" val="159996242"/>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E6E695-C909-4DD1-888D-2C0D753EBB1E}"/>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The evidence I would want before primary use</a:t>
            </a:r>
          </a:p>
        </p:txBody>
      </p:sp>
      <p:sp>
        <p:nvSpPr>
          <p:cNvPr id="2" name="">
            <a:extLst xmlns:a="http://schemas.openxmlformats.org/drawingml/2006/main">
              <a:ext uri="{FF2B5EF4-FFF2-40B4-BE49-F238E27FC236}">
                <a16:creationId xmlns:a16="http://schemas.microsoft.com/office/drawing/2014/main" id="{55EB5DFB-D6B6-44E8-8BCA-DD3166FE36FC}"/>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I support a pilot. These questions would determine how far I would take it.</a:t>
            </a:r>
          </a:p>
        </p:txBody>
      </p:sp>
      <p:sp>
        <p:nvSpPr>
          <p:cNvPr id="3" name="">
            <a:extLst xmlns:a="http://schemas.openxmlformats.org/drawingml/2006/main">
              <a:ext uri="{FF2B5EF4-FFF2-40B4-BE49-F238E27FC236}">
                <a16:creationId xmlns:a16="http://schemas.microsoft.com/office/drawing/2014/main" id="{1DD2CD84-5FEF-4635-BE7B-88CB82DA760F}"/>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Discussant assessment based on the supplied paper.</a:t>
            </a:r>
          </a:p>
        </p:txBody>
      </p:sp>
      <p:sp>
        <p:nvSpPr>
          <p:cNvPr id="4" name="">
            <a:extLst xmlns:a="http://schemas.openxmlformats.org/drawingml/2006/main">
              <a:ext uri="{FF2B5EF4-FFF2-40B4-BE49-F238E27FC236}">
                <a16:creationId xmlns:a16="http://schemas.microsoft.com/office/drawing/2014/main" id="{1158D97C-ABF6-4E44-90AD-1021633BF5D9}"/>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62581DF1-C968-438F-8023-A7463C4B786D}"/>
              </a:ext>
            </a:extLst>
          </p:cNvPr>
          <p:cNvSpPr>
            <a:spLocks xmlns:a="http://schemas.openxmlformats.org/drawingml/2006/main" noGrp="1"/>
          </p:cNvSpPr>
          <p:nvPr/>
        </p:nvSpPr>
        <p:spPr>
          <a:xfrm xmlns:a="http://schemas.openxmlformats.org/drawingml/2006/main">
            <a:off x="628650" y="224790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Independent validation</a:t>
            </a:r>
          </a:p>
        </p:txBody>
      </p:sp>
      <p:sp>
        <p:nvSpPr>
          <p:cNvPr id="6" name="">
            <a:extLst xmlns:a="http://schemas.openxmlformats.org/drawingml/2006/main">
              <a:ext uri="{FF2B5EF4-FFF2-40B4-BE49-F238E27FC236}">
                <a16:creationId xmlns:a16="http://schemas.microsoft.com/office/drawing/2014/main" id="{B4964D5D-861C-467D-9CB4-A17042FBF356}"/>
              </a:ext>
            </a:extLst>
          </p:cNvPr>
          <p:cNvSpPr>
            <a:spLocks xmlns:a="http://schemas.openxmlformats.org/drawingml/2006/main" noGrp="1"/>
          </p:cNvSpPr>
          <p:nvPr/>
        </p:nvSpPr>
        <p:spPr>
          <a:xfrm xmlns:a="http://schemas.openxmlformats.org/drawingml/2006/main">
            <a:off x="4000500" y="224790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Does the gain persist after freezing all tuning choices?</a:t>
            </a:r>
          </a:p>
        </p:txBody>
      </p:sp>
      <p:sp>
        <p:nvSpPr>
          <p:cNvPr id="7" name="">
            <a:extLst xmlns:a="http://schemas.openxmlformats.org/drawingml/2006/main">
              <a:ext uri="{FF2B5EF4-FFF2-40B4-BE49-F238E27FC236}">
                <a16:creationId xmlns:a16="http://schemas.microsoft.com/office/drawing/2014/main" id="{3280CBAD-BBD9-478E-B45A-51E0F2C70EEA}"/>
              </a:ext>
            </a:extLst>
          </p:cNvPr>
          <p:cNvSpPr>
            <a:spLocks xmlns:a="http://schemas.openxmlformats.org/drawingml/2006/main" noGrp="1"/>
          </p:cNvSpPr>
          <p:nvPr/>
        </p:nvSpPr>
        <p:spPr>
          <a:xfrm xmlns:a="http://schemas.openxmlformats.org/drawingml/2006/main">
            <a:off x="628650" y="33432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Local sample size</a:t>
            </a:r>
          </a:p>
        </p:txBody>
      </p:sp>
      <p:sp>
        <p:nvSpPr>
          <p:cNvPr id="8" name="">
            <a:extLst xmlns:a="http://schemas.openxmlformats.org/drawingml/2006/main">
              <a:ext uri="{FF2B5EF4-FFF2-40B4-BE49-F238E27FC236}">
                <a16:creationId xmlns:a16="http://schemas.microsoft.com/office/drawing/2014/main" id="{713DF2ED-1DFF-46F3-ADA7-F664F397A6AF}"/>
              </a:ext>
            </a:extLst>
          </p:cNvPr>
          <p:cNvSpPr>
            <a:spLocks xmlns:a="http://schemas.openxmlformats.org/drawingml/2006/main" noGrp="1"/>
          </p:cNvSpPr>
          <p:nvPr/>
        </p:nvSpPr>
        <p:spPr>
          <a:xfrm xmlns:a="http://schemas.openxmlformats.org/drawingml/2006/main">
            <a:off x="4000500" y="33432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How many controls are needed to detect clinically relevant local conflict?</a:t>
            </a:r>
          </a:p>
        </p:txBody>
      </p:sp>
      <p:sp>
        <p:nvSpPr>
          <p:cNvPr id="9" name="">
            <a:extLst xmlns:a="http://schemas.openxmlformats.org/drawingml/2006/main">
              <a:ext uri="{FF2B5EF4-FFF2-40B4-BE49-F238E27FC236}">
                <a16:creationId xmlns:a16="http://schemas.microsoft.com/office/drawing/2014/main" id="{7F7F8F41-E00A-4FC6-8E57-1B1F6D5DD970}"/>
              </a:ext>
            </a:extLst>
          </p:cNvPr>
          <p:cNvSpPr>
            <a:spLocks xmlns:a="http://schemas.openxmlformats.org/drawingml/2006/main" noGrp="1"/>
          </p:cNvSpPr>
          <p:nvPr/>
        </p:nvSpPr>
        <p:spPr>
          <a:xfrm xmlns:a="http://schemas.openxmlformats.org/drawingml/2006/main">
            <a:off x="628650" y="44386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Prior sensitivity</a:t>
            </a:r>
          </a:p>
        </p:txBody>
      </p:sp>
      <p:sp>
        <p:nvSpPr>
          <p:cNvPr id="10" name="">
            <a:extLst xmlns:a="http://schemas.openxmlformats.org/drawingml/2006/main">
              <a:ext uri="{FF2B5EF4-FFF2-40B4-BE49-F238E27FC236}">
                <a16:creationId xmlns:a16="http://schemas.microsoft.com/office/drawing/2014/main" id="{7EA30C84-871F-40E7-B7DB-0DC208B635BD}"/>
              </a:ext>
            </a:extLst>
          </p:cNvPr>
          <p:cNvSpPr>
            <a:spLocks xmlns:a="http://schemas.openxmlformats.org/drawingml/2006/main" noGrp="1"/>
          </p:cNvSpPr>
          <p:nvPr/>
        </p:nvSpPr>
        <p:spPr>
          <a:xfrm xmlns:a="http://schemas.openxmlformats.org/drawingml/2006/main">
            <a:off x="4000500" y="443865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How much do truncation and capped targets change the trial decision?</a:t>
            </a:r>
          </a:p>
        </p:txBody>
      </p:sp>
    </p:spTree>
    <p:extLst>
      <p:ext uri="{BB962C8B-B14F-4D97-AF65-F5344CB8AC3E}">
        <p14:creationId xmlns:p14="http://schemas.microsoft.com/office/powerpoint/2010/main" val="534704197"/>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5B737A-5B01-4AC8-BA34-4C5A7F8C8DC6}"/>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Backup: the single-arm application</a:t>
            </a:r>
          </a:p>
        </p:txBody>
      </p:sp>
      <p:sp>
        <p:nvSpPr>
          <p:cNvPr id="2" name="">
            <a:extLst xmlns:a="http://schemas.openxmlformats.org/drawingml/2006/main">
              <a:ext uri="{FF2B5EF4-FFF2-40B4-BE49-F238E27FC236}">
                <a16:creationId xmlns:a16="http://schemas.microsoft.com/office/drawing/2014/main" id="{27281839-9221-4D86-806E-4277C37C3059}"/>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EloKRd: 30 trial patients and 253 registry controls</a:t>
            </a:r>
          </a:p>
        </p:txBody>
      </p:sp>
      <p:sp>
        <p:nvSpPr>
          <p:cNvPr id="3" name="">
            <a:extLst xmlns:a="http://schemas.openxmlformats.org/drawingml/2006/main">
              <a:ext uri="{FF2B5EF4-FFF2-40B4-BE49-F238E27FC236}">
                <a16:creationId xmlns:a16="http://schemas.microsoft.com/office/drawing/2014/main" id="{6F7F6728-B87C-4466-B6E0-F07292C728DA}"/>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 manuscript Section 4, myeloma application. Not part of the timed talk.</a:t>
            </a:r>
          </a:p>
        </p:txBody>
      </p:sp>
      <p:sp>
        <p:nvSpPr>
          <p:cNvPr id="4" name="">
            <a:extLst xmlns:a="http://schemas.openxmlformats.org/drawingml/2006/main">
              <a:ext uri="{FF2B5EF4-FFF2-40B4-BE49-F238E27FC236}">
                <a16:creationId xmlns:a16="http://schemas.microsoft.com/office/drawing/2014/main" id="{75985594-2F59-413D-BAEB-99B59431B66C}"/>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07</a:t>
            </a:r>
          </a:p>
        </p:txBody>
      </p:sp>
      <p:graphicFrame>
        <p:nvGraphicFramePr>
          <p:cNvPr id="12" name=""/>
          <p:cNvGraphicFramePr/>
          <p:nvPr/>
        </p:nvGraphicFramePr>
        <p:xfrm>
          <a:off xmlns:a="http://schemas.openxmlformats.org/drawingml/2006/main" x="628650" y="2209800"/>
          <a:ext xmlns:a="http://schemas.openxmlformats.org/drawingml/2006/main" cx="10934700" cy="2190750"/>
        </p:xfrm>
        <a:graphic xmlns:a="http://schemas.openxmlformats.org/drawingml/2006/main">
          <a:graphicData uri="http://schemas.openxmlformats.org/drawingml/2006/table">
            <a:tbl>
              <a:tblPr/>
              <a:tblGrid>
                <a:gridCol w="4905375"/>
                <a:gridCol w="2571750"/>
                <a:gridCol w="3457575"/>
              </a:tblGrid>
              <a:tr h="730250">
                <a:tc>
                  <a:txBody>
                    <a:bodyPr/>
                    <a:lstStyle/>
                    <a:p>
                      <a:r>
                        <a:rPr sz="1875" b="1">
                          <a:solidFill>
                            <a:srgbClr val="FFFFFF"/>
                          </a:solidFill>
                          <a:latin typeface="Helvetica Neue"/>
                          <a:ea typeface="Helvetica Neue"/>
                          <a:cs typeface="Helvetica Neue"/>
                        </a:rPr>
                        <a:t>5-year RMST ratio</a:t>
                      </a:r>
                    </a:p>
                  </a:txBody>
                  <a:tcPr marL="152400" marR="114300" marT="114300" marB="114300" anchor="ctr">
                    <a:solidFill>
                      <a:srgbClr val="007F78"/>
                    </a:solidFill>
                  </a:tcPr>
                </a:tc>
                <a:tc>
                  <a:txBody>
                    <a:bodyPr/>
                    <a:lstStyle/>
                    <a:p>
                      <a:r>
                        <a:rPr sz="1875" b="1">
                          <a:solidFill>
                            <a:srgbClr val="FFFFFF"/>
                          </a:solidFill>
                          <a:latin typeface="Helvetica Neue"/>
                          <a:ea typeface="Helvetica Neue"/>
                          <a:cs typeface="Helvetica Neue"/>
                        </a:rPr>
                        <a:t>Posterior mean</a:t>
                      </a:r>
                    </a:p>
                  </a:txBody>
                  <a:tcPr marL="152400" marR="114300" marT="114300" marB="114300" anchor="ctr">
                    <a:solidFill>
                      <a:srgbClr val="007F78"/>
                    </a:solidFill>
                  </a:tcPr>
                </a:tc>
                <a:tc>
                  <a:txBody>
                    <a:bodyPr/>
                    <a:lstStyle/>
                    <a:p>
                      <a:r>
                        <a:rPr sz="1875" b="1">
                          <a:solidFill>
                            <a:srgbClr val="FFFFFF"/>
                          </a:solidFill>
                          <a:latin typeface="Helvetica Neue"/>
                          <a:ea typeface="Helvetica Neue"/>
                          <a:cs typeface="Helvetica Neue"/>
                        </a:rPr>
                        <a:t>95% credible interval</a:t>
                      </a:r>
                    </a:p>
                  </a:txBody>
                  <a:tcPr marL="152400" marR="114300" marT="114300" marB="114300" anchor="ctr">
                    <a:solidFill>
                      <a:srgbClr val="007F78"/>
                    </a:solidFill>
                  </a:tcPr>
                </a:tc>
              </a:tr>
              <a:tr h="730250">
                <a:tc>
                  <a:txBody>
                    <a:bodyPr/>
                    <a:lstStyle/>
                    <a:p>
                      <a:r>
                        <a:rPr sz="1875" b="1">
                          <a:solidFill>
                            <a:srgbClr val="172F3C"/>
                          </a:solidFill>
                          <a:latin typeface="Helvetica Neue"/>
                          <a:ea typeface="Helvetica Neue"/>
                          <a:cs typeface="Helvetica Neue"/>
                        </a:rPr>
                        <a:t>Progression-free survival</a:t>
                      </a:r>
                    </a:p>
                  </a:txBody>
                  <a:tcPr marL="152400" marR="114300" marT="114300" marB="114300" anchor="ctr">
                    <a:solidFill>
                      <a:srgbClr val="FFFFFF"/>
                    </a:solidFill>
                  </a:tcPr>
                </a:tc>
                <a:tc>
                  <a:txBody>
                    <a:bodyPr/>
                    <a:lstStyle/>
                    <a:p>
                      <a:r>
                        <a:rPr sz="1875" b="0">
                          <a:solidFill>
                            <a:srgbClr val="172F3C"/>
                          </a:solidFill>
                          <a:latin typeface="Helvetica Neue"/>
                          <a:ea typeface="Helvetica Neue"/>
                          <a:cs typeface="Helvetica Neue"/>
                        </a:rPr>
                        <a:t>0.97</a:t>
                      </a:r>
                    </a:p>
                  </a:txBody>
                  <a:tcPr marL="152400" marR="114300" marT="114300" marB="114300" anchor="ctr">
                    <a:solidFill>
                      <a:srgbClr val="FFFFFF"/>
                    </a:solidFill>
                  </a:tcPr>
                </a:tc>
                <a:tc>
                  <a:txBody>
                    <a:bodyPr/>
                    <a:lstStyle/>
                    <a:p>
                      <a:r>
                        <a:rPr sz="1875" b="0">
                          <a:solidFill>
                            <a:srgbClr val="172F3C"/>
                          </a:solidFill>
                          <a:latin typeface="Helvetica Neue"/>
                          <a:ea typeface="Helvetica Neue"/>
                          <a:cs typeface="Helvetica Neue"/>
                        </a:rPr>
                        <a:t>0.77–1.23</a:t>
                      </a:r>
                    </a:p>
                  </a:txBody>
                  <a:tcPr marL="152400" marR="114300" marT="114300" marB="114300" anchor="ctr">
                    <a:solidFill>
                      <a:srgbClr val="FFFFFF"/>
                    </a:solidFill>
                  </a:tcPr>
                </a:tc>
              </a:tr>
              <a:tr h="730250">
                <a:tc>
                  <a:txBody>
                    <a:bodyPr/>
                    <a:lstStyle/>
                    <a:p>
                      <a:r>
                        <a:rPr sz="1875" b="1">
                          <a:solidFill>
                            <a:srgbClr val="172F3C"/>
                          </a:solidFill>
                          <a:latin typeface="Helvetica Neue"/>
                          <a:ea typeface="Helvetica Neue"/>
                          <a:cs typeface="Helvetica Neue"/>
                        </a:rPr>
                        <a:t>Overall survival</a:t>
                      </a:r>
                    </a:p>
                  </a:txBody>
                  <a:tcPr marL="152400" marR="114300" marT="114300" marB="114300" anchor="ctr">
                    <a:solidFill>
                      <a:srgbClr val="E9EFEE"/>
                    </a:solidFill>
                  </a:tcPr>
                </a:tc>
                <a:tc>
                  <a:txBody>
                    <a:bodyPr/>
                    <a:lstStyle/>
                    <a:p>
                      <a:r>
                        <a:rPr sz="1875" b="0">
                          <a:solidFill>
                            <a:srgbClr val="172F3C"/>
                          </a:solidFill>
                          <a:latin typeface="Helvetica Neue"/>
                          <a:ea typeface="Helvetica Neue"/>
                          <a:cs typeface="Helvetica Neue"/>
                        </a:rPr>
                        <a:t>0.90</a:t>
                      </a:r>
                    </a:p>
                  </a:txBody>
                  <a:tcPr marL="152400" marR="114300" marT="114300" marB="114300" anchor="ctr">
                    <a:solidFill>
                      <a:srgbClr val="E9EFEE"/>
                    </a:solidFill>
                  </a:tcPr>
                </a:tc>
                <a:tc>
                  <a:txBody>
                    <a:bodyPr/>
                    <a:lstStyle/>
                    <a:p>
                      <a:r>
                        <a:rPr sz="1875" b="0">
                          <a:solidFill>
                            <a:srgbClr val="172F3C"/>
                          </a:solidFill>
                          <a:latin typeface="Helvetica Neue"/>
                          <a:ea typeface="Helvetica Neue"/>
                          <a:cs typeface="Helvetica Neue"/>
                        </a:rPr>
                        <a:t>0.77–1.04</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A5AD24D1-883F-4279-B39C-B5581E0C6C70}"/>
              </a:ext>
            </a:extLst>
          </p:cNvPr>
          <p:cNvSpPr>
            <a:spLocks xmlns:a="http://schemas.openxmlformats.org/drawingml/2006/main" noGrp="1"/>
          </p:cNvSpPr>
          <p:nvPr/>
        </p:nvSpPr>
        <p:spPr>
          <a:xfrm xmlns:a="http://schemas.openxmlformats.org/drawingml/2006/main">
            <a:off x="628650" y="48101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The discrepancy remains a prior draw without trial controls.</a:t>
            </a:r>
          </a:p>
        </p:txBody>
      </p:sp>
      <p:sp>
        <p:nvSpPr>
          <p:cNvPr id="7" name="">
            <a:extLst xmlns:a="http://schemas.openxmlformats.org/drawingml/2006/main">
              <a:ext uri="{FF2B5EF4-FFF2-40B4-BE49-F238E27FC236}">
                <a16:creationId xmlns:a16="http://schemas.microsoft.com/office/drawing/2014/main" id="{4C8D3792-DF10-44F7-BB96-7B4C5B1AA0CB}"/>
              </a:ext>
            </a:extLst>
          </p:cNvPr>
          <p:cNvSpPr>
            <a:spLocks xmlns:a="http://schemas.openxmlformats.org/drawingml/2006/main" noGrp="1"/>
          </p:cNvSpPr>
          <p:nvPr/>
        </p:nvSpPr>
        <p:spPr>
          <a:xfrm xmlns:a="http://schemas.openxmlformats.org/drawingml/2006/main">
            <a:off x="628650" y="5486400"/>
            <a:ext cx="10934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C"/>
                </a:solidFill>
                <a:latin typeface="Helvetica Neue"/>
                <a:ea typeface="Helvetica Neue"/>
                <a:cs typeface="Helvetica Neue"/>
              </a:defRPr>
            </a:pPr>
            <a:r>
              <a:rPr sz="2025" b="0">
                <a:solidFill>
                  <a:srgbClr val="172F3C"/>
                </a:solidFill>
                <a:latin typeface="Helvetica Neue"/>
                <a:ea typeface="Helvetica Neue"/>
                <a:cs typeface="Helvetica Neue"/>
              </a:rPr>
              <a:t>Local ESS describes registry support. The comparison conditions on post-induction ASCT.</a:t>
            </a:r>
          </a:p>
        </p:txBody>
      </p:sp>
    </p:spTree>
    <p:extLst>
      <p:ext uri="{BB962C8B-B14F-4D97-AF65-F5344CB8AC3E}">
        <p14:creationId xmlns:p14="http://schemas.microsoft.com/office/powerpoint/2010/main" val="390162433"/>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B4E44A-2E38-4C25-828A-DC517D740360}"/>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Backup: sources and interpretation</a:t>
            </a:r>
          </a:p>
        </p:txBody>
      </p:sp>
      <p:sp>
        <p:nvSpPr>
          <p:cNvPr id="2" name="">
            <a:extLst xmlns:a="http://schemas.openxmlformats.org/drawingml/2006/main">
              <a:ext uri="{FF2B5EF4-FFF2-40B4-BE49-F238E27FC236}">
                <a16:creationId xmlns:a16="http://schemas.microsoft.com/office/drawing/2014/main" id="{573DEC6E-3D25-44CD-8A91-BCBF88F6C6F9}"/>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All numerical comparisons come from the supplied paper revision</a:t>
            </a:r>
          </a:p>
        </p:txBody>
      </p:sp>
      <p:sp>
        <p:nvSpPr>
          <p:cNvPr id="3" name="">
            <a:extLst xmlns:a="http://schemas.openxmlformats.org/drawingml/2006/main">
              <a:ext uri="{FF2B5EF4-FFF2-40B4-BE49-F238E27FC236}">
                <a16:creationId xmlns:a16="http://schemas.microsoft.com/office/drawing/2014/main" id="{ECFD3B13-7D9A-466C-91FB-A19897CDF3F2}"/>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Reference details and source locations are also in each slide’s speaker notes.</a:t>
            </a:r>
          </a:p>
        </p:txBody>
      </p:sp>
      <p:sp>
        <p:nvSpPr>
          <p:cNvPr id="4" name="">
            <a:extLst xmlns:a="http://schemas.openxmlformats.org/drawingml/2006/main">
              <a:ext uri="{FF2B5EF4-FFF2-40B4-BE49-F238E27FC236}">
                <a16:creationId xmlns:a16="http://schemas.microsoft.com/office/drawing/2014/main" id="{AD812463-B58D-421E-97E4-170ABCDEA0D3}"/>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Helvetica Neue"/>
                <a:ea typeface="Helvetica Neue"/>
                <a:cs typeface="Helvetica Neue"/>
              </a:defRPr>
            </a:pPr>
            <a:r>
              <a:rPr sz="1350" b="1">
                <a:solidFill>
                  <a:srgbClr val="007F78"/>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D3D1CC2-2DDB-4588-9C3E-75C59537A8D1}"/>
              </a:ext>
            </a:extLst>
          </p:cNvPr>
          <p:cNvSpPr>
            <a:spLocks xmlns:a="http://schemas.openxmlformats.org/drawingml/2006/main" noGrp="1"/>
          </p:cNvSpPr>
          <p:nvPr/>
        </p:nvSpPr>
        <p:spPr>
          <a:xfrm xmlns:a="http://schemas.openxmlformats.org/drawingml/2006/main">
            <a:off x="628650" y="22764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Manuscript</a:t>
            </a:r>
          </a:p>
        </p:txBody>
      </p:sp>
      <p:sp>
        <p:nvSpPr>
          <p:cNvPr id="6" name="">
            <a:extLst xmlns:a="http://schemas.openxmlformats.org/drawingml/2006/main">
              <a:ext uri="{FF2B5EF4-FFF2-40B4-BE49-F238E27FC236}">
                <a16:creationId xmlns:a16="http://schemas.microsoft.com/office/drawing/2014/main" id="{D8AB4AAA-13F2-4F20-8D68-E60464DA506B}"/>
              </a:ext>
            </a:extLst>
          </p:cNvPr>
          <p:cNvSpPr>
            <a:spLocks xmlns:a="http://schemas.openxmlformats.org/drawingml/2006/main" noGrp="1"/>
          </p:cNvSpPr>
          <p:nvPr/>
        </p:nvSpPr>
        <p:spPr>
          <a:xfrm xmlns:a="http://schemas.openxmlformats.org/drawingml/2006/main">
            <a:off x="4000500" y="22764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LRC-BART, revision reviewed 11 September 2026. Sections 2–5 and Web Appendix G.</a:t>
            </a:r>
          </a:p>
        </p:txBody>
      </p:sp>
      <p:sp>
        <p:nvSpPr>
          <p:cNvPr id="7" name="">
            <a:extLst xmlns:a="http://schemas.openxmlformats.org/drawingml/2006/main">
              <a:ext uri="{FF2B5EF4-FFF2-40B4-BE49-F238E27FC236}">
                <a16:creationId xmlns:a16="http://schemas.microsoft.com/office/drawing/2014/main" id="{126F3594-43FF-4B91-89B2-803D7018D86F}"/>
              </a:ext>
            </a:extLst>
          </p:cNvPr>
          <p:cNvSpPr>
            <a:spLocks xmlns:a="http://schemas.openxmlformats.org/drawingml/2006/main" noGrp="1"/>
          </p:cNvSpPr>
          <p:nvPr/>
        </p:nvSpPr>
        <p:spPr>
          <a:xfrm xmlns:a="http://schemas.openxmlformats.org/drawingml/2006/main">
            <a:off x="628650" y="34194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Simulation scope</a:t>
            </a:r>
          </a:p>
        </p:txBody>
      </p:sp>
      <p:sp>
        <p:nvSpPr>
          <p:cNvPr id="8" name="">
            <a:extLst xmlns:a="http://schemas.openxmlformats.org/drawingml/2006/main">
              <a:ext uri="{FF2B5EF4-FFF2-40B4-BE49-F238E27FC236}">
                <a16:creationId xmlns:a16="http://schemas.microsoft.com/office/drawing/2014/main" id="{411B53A2-7547-4057-BA44-A340B606D5AD}"/>
              </a:ext>
            </a:extLst>
          </p:cNvPr>
          <p:cNvSpPr>
            <a:spLocks xmlns:a="http://schemas.openxmlformats.org/drawingml/2006/main" noGrp="1"/>
          </p:cNvSpPr>
          <p:nvPr/>
        </p:nvSpPr>
        <p:spPr>
          <a:xfrm xmlns:a="http://schemas.openxmlformats.org/drawingml/2006/main">
            <a:off x="4000500" y="34194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Sc1 agreement, Sc2 poor overlap, Sc4 regional shifts. Main Gaussian study: 500 replicates.</a:t>
            </a:r>
          </a:p>
        </p:txBody>
      </p:sp>
      <p:sp>
        <p:nvSpPr>
          <p:cNvPr id="9" name="">
            <a:extLst xmlns:a="http://schemas.openxmlformats.org/drawingml/2006/main">
              <a:ext uri="{FF2B5EF4-FFF2-40B4-BE49-F238E27FC236}">
                <a16:creationId xmlns:a16="http://schemas.microsoft.com/office/drawing/2014/main" id="{736B8708-D370-4579-A2B5-AE4ABA6C09CF}"/>
              </a:ext>
            </a:extLst>
          </p:cNvPr>
          <p:cNvSpPr>
            <a:spLocks xmlns:a="http://schemas.openxmlformats.org/drawingml/2006/main" noGrp="1"/>
          </p:cNvSpPr>
          <p:nvPr/>
        </p:nvSpPr>
        <p:spPr>
          <a:xfrm xmlns:a="http://schemas.openxmlformats.org/drawingml/2006/main">
            <a:off x="628650" y="45624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Discussion scope</a:t>
            </a:r>
          </a:p>
        </p:txBody>
      </p:sp>
      <p:sp>
        <p:nvSpPr>
          <p:cNvPr id="10" name="">
            <a:extLst xmlns:a="http://schemas.openxmlformats.org/drawingml/2006/main">
              <a:ext uri="{FF2B5EF4-FFF2-40B4-BE49-F238E27FC236}">
                <a16:creationId xmlns:a16="http://schemas.microsoft.com/office/drawing/2014/main" id="{A580762C-5D9E-4FED-8246-9E02066DD875}"/>
              </a:ext>
            </a:extLst>
          </p:cNvPr>
          <p:cNvSpPr>
            <a:spLocks xmlns:a="http://schemas.openxmlformats.org/drawingml/2006/main" noGrp="1"/>
          </p:cNvSpPr>
          <p:nvPr/>
        </p:nvSpPr>
        <p:spPr>
          <a:xfrm xmlns:a="http://schemas.openxmlformats.org/drawingml/2006/main">
            <a:off x="4000500" y="45624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Proposed development uses and investment decisions are the discussant’s judgments.</a:t>
            </a:r>
          </a:p>
        </p:txBody>
      </p:sp>
    </p:spTree>
    <p:extLst>
      <p:ext uri="{BB962C8B-B14F-4D97-AF65-F5344CB8AC3E}">
        <p14:creationId xmlns:p14="http://schemas.microsoft.com/office/powerpoint/2010/main" val="20710699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2026-09-11T07:00:23.0700000Z</dcterms:created>
  <dcterms:modified xsi:type="dcterms:W3CDTF">2026-09-11T07:00:23.0700000Z</dcterms:modified>
</coreProperties>
</file>